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3"/>
  </p:notesMasterIdLst>
  <p:sldIdLst>
    <p:sldId id="256" r:id="rId2"/>
    <p:sldId id="260" r:id="rId3"/>
    <p:sldId id="259" r:id="rId4"/>
    <p:sldId id="257" r:id="rId5"/>
    <p:sldId id="261" r:id="rId6"/>
    <p:sldId id="258" r:id="rId7"/>
    <p:sldId id="262" r:id="rId8"/>
    <p:sldId id="263" r:id="rId9"/>
    <p:sldId id="264" r:id="rId10"/>
    <p:sldId id="265" r:id="rId11"/>
    <p:sldId id="266" r:id="rId12"/>
  </p:sldIdLst>
  <p:sldSz cx="6858000" cy="9907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003F"/>
    <a:srgbClr val="CBCB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780"/>
    <p:restoredTop sz="94565"/>
  </p:normalViewPr>
  <p:slideViewPr>
    <p:cSldViewPr snapToGrid="0">
      <p:cViewPr>
        <p:scale>
          <a:sx n="102" d="100"/>
          <a:sy n="102" d="100"/>
        </p:scale>
        <p:origin x="404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L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11613A-CE2D-2F46-91E0-3FD007AFBE13}" type="datetimeFigureOut">
              <a:rPr lang="en-LT" smtClean="0"/>
              <a:t>04/07/2025</a:t>
            </a:fld>
            <a:endParaRPr lang="en-L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L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L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74CCBE-11FD-9549-A4F4-866057046B15}" type="slidenum">
              <a:rPr lang="en-LT" smtClean="0"/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3592491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4CCBE-11FD-9549-A4F4-866057046B15}" type="slidenum">
              <a:rPr lang="en-LT" smtClean="0"/>
              <a:t>1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9085610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2C148-FBF4-B1D9-B724-6DC89A0B5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A4434B-FDB4-8A80-80AF-47ACCB9CD8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657AB6-F0DE-5E34-DE27-DD8B16DB0B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7E73D-5E05-5367-1B78-23C6AFFA8D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4CCBE-11FD-9549-A4F4-866057046B15}" type="slidenum">
              <a:rPr lang="en-LT" smtClean="0"/>
              <a:t>2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7502468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4CCBE-11FD-9549-A4F4-866057046B15}" type="slidenum">
              <a:rPr lang="en-LT" smtClean="0"/>
              <a:t>3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7580468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4CCBE-11FD-9549-A4F4-866057046B15}" type="slidenum">
              <a:rPr lang="en-LT" smtClean="0"/>
              <a:t>4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1579589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CA8D4-7EEE-E7EF-92EA-C6D97E6C9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B33B22-2FEE-DF80-8C5E-CED2F373FF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9FC6C1-ACBA-35BA-388A-8AF195738F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9CA6B-79C4-D432-2C0D-6AA195BA15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4CCBE-11FD-9549-A4F4-866057046B15}" type="slidenum">
              <a:rPr lang="en-LT" smtClean="0"/>
              <a:t>5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721996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4CCBE-11FD-9549-A4F4-866057046B15}" type="slidenum">
              <a:rPr lang="en-LT" smtClean="0"/>
              <a:t>10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990112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451"/>
            <a:ext cx="5829300" cy="344930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3778"/>
            <a:ext cx="5143500" cy="2392040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8606B-9607-8247-9454-75757C2ABCB7}" type="datetimeFigureOut">
              <a:rPr lang="en-LT" smtClean="0"/>
              <a:t>04/07/2025</a:t>
            </a:fld>
            <a:endParaRPr lang="en-L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C7AA5-A7FA-FD4B-9F1B-D55BF4E65475}" type="slidenum">
              <a:rPr lang="en-LT" smtClean="0"/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941554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8606B-9607-8247-9454-75757C2ABCB7}" type="datetimeFigureOut">
              <a:rPr lang="en-LT" smtClean="0"/>
              <a:t>04/07/2025</a:t>
            </a:fld>
            <a:endParaRPr lang="en-L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C7AA5-A7FA-FD4B-9F1B-D55BF4E65475}" type="slidenum">
              <a:rPr lang="en-LT" smtClean="0"/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828779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70019"/>
            <a:ext cx="5915025" cy="4121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30289"/>
            <a:ext cx="5915025" cy="2167284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8606B-9607-8247-9454-75757C2ABCB7}" type="datetimeFigureOut">
              <a:rPr lang="en-LT" smtClean="0"/>
              <a:t>04/07/2025</a:t>
            </a:fld>
            <a:endParaRPr lang="en-L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C7AA5-A7FA-FD4B-9F1B-D55BF4E65475}" type="slidenum">
              <a:rPr lang="en-LT" smtClean="0"/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9871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436"/>
            <a:ext cx="2914650" cy="628627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436"/>
            <a:ext cx="2914650" cy="628627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8606B-9607-8247-9454-75757C2ABCB7}" type="datetimeFigureOut">
              <a:rPr lang="en-LT" smtClean="0"/>
              <a:t>04/07/2025</a:t>
            </a:fld>
            <a:endParaRPr lang="en-L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C7AA5-A7FA-FD4B-9F1B-D55BF4E65475}" type="slidenum">
              <a:rPr lang="en-LT" smtClean="0"/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175039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90"/>
            <a:ext cx="5915025" cy="191500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736"/>
            <a:ext cx="2901255" cy="119028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9022"/>
            <a:ext cx="2901255" cy="532303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736"/>
            <a:ext cx="2915543" cy="119028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9022"/>
            <a:ext cx="2915543" cy="532303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8606B-9607-8247-9454-75757C2ABCB7}" type="datetimeFigureOut">
              <a:rPr lang="en-LT" smtClean="0"/>
              <a:t>04/07/2025</a:t>
            </a:fld>
            <a:endParaRPr lang="en-L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C7AA5-A7FA-FD4B-9F1B-D55BF4E65475}" type="slidenum">
              <a:rPr lang="en-LT" smtClean="0"/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581679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8606B-9607-8247-9454-75757C2ABCB7}" type="datetimeFigureOut">
              <a:rPr lang="en-LT" smtClean="0"/>
              <a:t>04/07/2025</a:t>
            </a:fld>
            <a:endParaRPr lang="en-L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C7AA5-A7FA-FD4B-9F1B-D55BF4E65475}" type="slidenum">
              <a:rPr lang="en-LT" smtClean="0"/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897000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8606B-9607-8247-9454-75757C2ABCB7}" type="datetimeFigureOut">
              <a:rPr lang="en-LT" smtClean="0"/>
              <a:t>04/07/2025</a:t>
            </a:fld>
            <a:endParaRPr lang="en-L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C7AA5-A7FA-FD4B-9F1B-D55BF4E65475}" type="slidenum">
              <a:rPr lang="en-LT" smtClean="0"/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633563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506"/>
            <a:ext cx="2211884" cy="231177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511"/>
            <a:ext cx="3471863" cy="704080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2276"/>
            <a:ext cx="2211884" cy="550651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8606B-9607-8247-9454-75757C2ABCB7}" type="datetimeFigureOut">
              <a:rPr lang="en-LT" smtClean="0"/>
              <a:t>04/07/2025</a:t>
            </a:fld>
            <a:endParaRPr lang="en-L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C7AA5-A7FA-FD4B-9F1B-D55BF4E65475}" type="slidenum">
              <a:rPr lang="en-LT" smtClean="0"/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202825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506"/>
            <a:ext cx="2211884" cy="231177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511"/>
            <a:ext cx="3471863" cy="704080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2276"/>
            <a:ext cx="2211884" cy="550651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8606B-9607-8247-9454-75757C2ABCB7}" type="datetimeFigureOut">
              <a:rPr lang="en-LT" smtClean="0"/>
              <a:t>04/07/2025</a:t>
            </a:fld>
            <a:endParaRPr lang="en-L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C7AA5-A7FA-FD4B-9F1B-D55BF4E65475}" type="slidenum">
              <a:rPr lang="en-LT" smtClean="0"/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3915985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8606B-9607-8247-9454-75757C2ABCB7}" type="datetimeFigureOut">
              <a:rPr lang="en-LT" smtClean="0"/>
              <a:t>04/07/2025</a:t>
            </a:fld>
            <a:endParaRPr lang="en-L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C7AA5-A7FA-FD4B-9F1B-D55BF4E65475}" type="slidenum">
              <a:rPr lang="en-LT" smtClean="0"/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691243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87"/>
            <a:ext cx="1478756" cy="839622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87"/>
            <a:ext cx="4350544" cy="839622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8606B-9607-8247-9454-75757C2ABCB7}" type="datetimeFigureOut">
              <a:rPr lang="en-LT" smtClean="0"/>
              <a:t>04/07/2025</a:t>
            </a:fld>
            <a:endParaRPr lang="en-L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C7AA5-A7FA-FD4B-9F1B-D55BF4E65475}" type="slidenum">
              <a:rPr lang="en-LT" smtClean="0"/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714302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90"/>
            <a:ext cx="5915025" cy="1915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436"/>
            <a:ext cx="5915025" cy="6286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2869"/>
            <a:ext cx="1543050" cy="5274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38606B-9607-8247-9454-75757C2ABCB7}" type="datetimeFigureOut">
              <a:rPr lang="en-LT" smtClean="0"/>
              <a:t>04/07/2025</a:t>
            </a:fld>
            <a:endParaRPr lang="en-L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2869"/>
            <a:ext cx="2314575" cy="5274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L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2869"/>
            <a:ext cx="1543050" cy="5274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C7AA5-A7FA-FD4B-9F1B-D55BF4E65475}" type="slidenum">
              <a:rPr lang="en-LT" smtClean="0"/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068827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9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40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tiff"/><Relationship Id="rId3" Type="http://schemas.openxmlformats.org/officeDocument/2006/relationships/image" Target="../media/image16.png"/><Relationship Id="rId7" Type="http://schemas.openxmlformats.org/officeDocument/2006/relationships/image" Target="../media/image20.tif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tif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0.tiff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4.png"/><Relationship Id="rId5" Type="http://schemas.openxmlformats.org/officeDocument/2006/relationships/image" Target="../media/image22.tiff"/><Relationship Id="rId10" Type="http://schemas.openxmlformats.org/officeDocument/2006/relationships/image" Target="../media/image17.png"/><Relationship Id="rId4" Type="http://schemas.openxmlformats.org/officeDocument/2006/relationships/image" Target="../media/image21.tiff"/><Relationship Id="rId9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BE675241-B026-D891-4C2A-EE11BE2246CD}"/>
              </a:ext>
            </a:extLst>
          </p:cNvPr>
          <p:cNvGrpSpPr/>
          <p:nvPr/>
        </p:nvGrpSpPr>
        <p:grpSpPr>
          <a:xfrm>
            <a:off x="0" y="0"/>
            <a:ext cx="6858000" cy="6812174"/>
            <a:chOff x="0" y="130705"/>
            <a:chExt cx="6858000" cy="6812174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94E1A6A-DC43-B731-C8F6-808C82EFEDD1}"/>
                </a:ext>
              </a:extLst>
            </p:cNvPr>
            <p:cNvSpPr/>
            <p:nvPr/>
          </p:nvSpPr>
          <p:spPr>
            <a:xfrm>
              <a:off x="0" y="130705"/>
              <a:ext cx="6858000" cy="68121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4051C360-06D5-4653-0DF1-6885B19DD199}"/>
                </a:ext>
              </a:extLst>
            </p:cNvPr>
            <p:cNvGrpSpPr/>
            <p:nvPr/>
          </p:nvGrpSpPr>
          <p:grpSpPr>
            <a:xfrm>
              <a:off x="3565932" y="269969"/>
              <a:ext cx="3223055" cy="1264757"/>
              <a:chOff x="3525642" y="278536"/>
              <a:chExt cx="3223055" cy="1264757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64839C83-ED8F-5731-8BF7-32F6AC1A1C9B}"/>
                  </a:ext>
                </a:extLst>
              </p:cNvPr>
              <p:cNvGrpSpPr/>
              <p:nvPr/>
            </p:nvGrpSpPr>
            <p:grpSpPr>
              <a:xfrm>
                <a:off x="3525642" y="278536"/>
                <a:ext cx="3223055" cy="1264757"/>
                <a:chOff x="3525642" y="278536"/>
                <a:chExt cx="3223055" cy="1264757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0F073E2-7AAD-51D4-A451-34577A423F5A}"/>
                    </a:ext>
                  </a:extLst>
                </p:cNvPr>
                <p:cNvGrpSpPr/>
                <p:nvPr/>
              </p:nvGrpSpPr>
              <p:grpSpPr>
                <a:xfrm>
                  <a:off x="3525642" y="278536"/>
                  <a:ext cx="3223055" cy="1264757"/>
                  <a:chOff x="3428999" y="23082"/>
                  <a:chExt cx="3293767" cy="1264757"/>
                </a:xfrm>
              </p:grpSpPr>
              <p:pic>
                <p:nvPicPr>
                  <p:cNvPr id="47" name="Picture 46" descr="A close-up of a purple thread&#10;&#10;Description automatically generated">
                    <a:extLst>
                      <a:ext uri="{FF2B5EF4-FFF2-40B4-BE49-F238E27FC236}">
                        <a16:creationId xmlns:a16="http://schemas.microsoft.com/office/drawing/2014/main" id="{F8AECEE0-2AD5-F017-1603-5A8AA0EB585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3"/>
                  <a:srcRect l="20852" t="37608" r="19699" b="31846"/>
                  <a:stretch/>
                </p:blipFill>
                <p:spPr>
                  <a:xfrm>
                    <a:off x="3428999" y="335864"/>
                    <a:ext cx="3293767" cy="951975"/>
                  </a:xfrm>
                  <a:prstGeom prst="rect">
                    <a:avLst/>
                  </a:prstGeom>
                </p:spPr>
              </p:pic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5F0B0095-905E-B3BF-F4B9-E11478F6A61A}"/>
                      </a:ext>
                    </a:extLst>
                  </p:cNvPr>
                  <p:cNvSpPr txBox="1"/>
                  <p:nvPr/>
                </p:nvSpPr>
                <p:spPr>
                  <a:xfrm>
                    <a:off x="3874795" y="23082"/>
                    <a:ext cx="2529860" cy="2308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LT" sz="900" dirty="0">
                        <a:latin typeface="Avenir Light" panose="020B0402020203020204" pitchFamily="34" charset="77"/>
                      </a:rPr>
                      <a:t>EF perpendicular to the somato-dendritic axis</a:t>
                    </a:r>
                  </a:p>
                </p:txBody>
              </p:sp>
            </p:grpSp>
            <p:cxnSp>
              <p:nvCxnSpPr>
                <p:cNvPr id="44" name="Straight Arrow Connector 43">
                  <a:extLst>
                    <a:ext uri="{FF2B5EF4-FFF2-40B4-BE49-F238E27FC236}">
                      <a16:creationId xmlns:a16="http://schemas.microsoft.com/office/drawing/2014/main" id="{3731897B-B167-0E3E-E37D-DC81A732B5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14010" y="538976"/>
                  <a:ext cx="0" cy="46808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ACCE6C16-F753-60F8-75B8-729116B79D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66410" y="691376"/>
                  <a:ext cx="0" cy="46808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Arrow Connector 45">
                  <a:extLst>
                    <a:ext uri="{FF2B5EF4-FFF2-40B4-BE49-F238E27FC236}">
                      <a16:creationId xmlns:a16="http://schemas.microsoft.com/office/drawing/2014/main" id="{7251B634-544C-990B-DF68-D72610C18B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18810" y="843776"/>
                  <a:ext cx="0" cy="46808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9AC87657-D116-3FFC-23C3-47FBD0C18F2B}"/>
                      </a:ext>
                    </a:extLst>
                  </p:cNvPr>
                  <p:cNvSpPr txBox="1"/>
                  <p:nvPr/>
                </p:nvSpPr>
                <p:spPr>
                  <a:xfrm>
                    <a:off x="5011938" y="498741"/>
                    <a:ext cx="286938" cy="24769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en-LT" sz="9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9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oMath>
                      </m:oMathPara>
                    </a14:m>
                    <a:endParaRPr lang="en-LT" sz="900" dirty="0"/>
                  </a:p>
                </p:txBody>
              </p:sp>
            </mc:Choice>
            <mc:Fallback xmlns="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9AC87657-D116-3FFC-23C3-47FBD0C18F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11938" y="498741"/>
                    <a:ext cx="286938" cy="24769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LT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C83917E-A780-A8C9-4358-EE5140A77756}"/>
                </a:ext>
              </a:extLst>
            </p:cNvPr>
            <p:cNvSpPr txBox="1"/>
            <p:nvPr/>
          </p:nvSpPr>
          <p:spPr>
            <a:xfrm>
              <a:off x="0" y="130705"/>
              <a:ext cx="28084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LT" sz="1100" dirty="0">
                  <a:latin typeface="Avenir Light" panose="020B0402020203020204" pitchFamily="34" charset="77"/>
                </a:rPr>
                <a:t>A</a:t>
              </a:r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A641ECA9-9060-E0B0-C7A3-D37008B31CAA}"/>
                </a:ext>
              </a:extLst>
            </p:cNvPr>
            <p:cNvGrpSpPr/>
            <p:nvPr/>
          </p:nvGrpSpPr>
          <p:grpSpPr>
            <a:xfrm>
              <a:off x="414972" y="267398"/>
              <a:ext cx="3342968" cy="1307535"/>
              <a:chOff x="308091" y="257147"/>
              <a:chExt cx="3342968" cy="1307535"/>
            </a:xfrm>
          </p:grpSpPr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27A5691D-89E8-83CF-5A11-28D68809E184}"/>
                  </a:ext>
                </a:extLst>
              </p:cNvPr>
              <p:cNvGrpSpPr/>
              <p:nvPr/>
            </p:nvGrpSpPr>
            <p:grpSpPr>
              <a:xfrm>
                <a:off x="308091" y="257147"/>
                <a:ext cx="3342968" cy="1307535"/>
                <a:chOff x="308091" y="257147"/>
                <a:chExt cx="3342968" cy="1307535"/>
              </a:xfrm>
            </p:grpSpPr>
            <p:grpSp>
              <p:nvGrpSpPr>
                <p:cNvPr id="64" name="Group 63">
                  <a:extLst>
                    <a:ext uri="{FF2B5EF4-FFF2-40B4-BE49-F238E27FC236}">
                      <a16:creationId xmlns:a16="http://schemas.microsoft.com/office/drawing/2014/main" id="{AC8BA9E2-C27C-A941-B165-4BB840C9BF45}"/>
                    </a:ext>
                  </a:extLst>
                </p:cNvPr>
                <p:cNvGrpSpPr/>
                <p:nvPr/>
              </p:nvGrpSpPr>
              <p:grpSpPr>
                <a:xfrm>
                  <a:off x="308091" y="257147"/>
                  <a:ext cx="3342968" cy="1307535"/>
                  <a:chOff x="7548" y="30777"/>
                  <a:chExt cx="3421453" cy="1249367"/>
                </a:xfrm>
              </p:grpSpPr>
              <p:pic>
                <p:nvPicPr>
                  <p:cNvPr id="68" name="Picture 67" descr="A close-up of a purple thread&#10;&#10;Description automatically generated">
                    <a:extLst>
                      <a:ext uri="{FF2B5EF4-FFF2-40B4-BE49-F238E27FC236}">
                        <a16:creationId xmlns:a16="http://schemas.microsoft.com/office/drawing/2014/main" id="{477EB6E7-DEA9-060F-54C3-73CD7CEC201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3"/>
                  <a:srcRect l="20852" t="37608" r="17394" b="31846"/>
                  <a:stretch/>
                </p:blipFill>
                <p:spPr>
                  <a:xfrm>
                    <a:off x="7548" y="328169"/>
                    <a:ext cx="3421453" cy="951975"/>
                  </a:xfrm>
                  <a:prstGeom prst="rect">
                    <a:avLst/>
                  </a:prstGeom>
                </p:spPr>
              </p:pic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39A6F717-3447-025E-139B-21D393A5F899}"/>
                      </a:ext>
                    </a:extLst>
                  </p:cNvPr>
                  <p:cNvSpPr txBox="1"/>
                  <p:nvPr/>
                </p:nvSpPr>
                <p:spPr>
                  <a:xfrm>
                    <a:off x="624064" y="30777"/>
                    <a:ext cx="2188420" cy="2308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LT" sz="900" dirty="0">
                        <a:latin typeface="Avenir Light" panose="020B0402020203020204" pitchFamily="34" charset="77"/>
                      </a:rPr>
                      <a:t>EF parallel to the somato-dendritic axis</a:t>
                    </a:r>
                  </a:p>
                </p:txBody>
              </p:sp>
            </p:grpSp>
            <p:cxnSp>
              <p:nvCxnSpPr>
                <p:cNvPr id="65" name="Straight Arrow Connector 64">
                  <a:extLst>
                    <a:ext uri="{FF2B5EF4-FFF2-40B4-BE49-F238E27FC236}">
                      <a16:creationId xmlns:a16="http://schemas.microsoft.com/office/drawing/2014/main" id="{E06D09B1-AC8C-4B6E-A5C3-98EB334F2375}"/>
                    </a:ext>
                  </a:extLst>
                </p:cNvPr>
                <p:cNvCxnSpPr/>
                <p:nvPr/>
              </p:nvCxnSpPr>
              <p:spPr>
                <a:xfrm>
                  <a:off x="1268330" y="587297"/>
                  <a:ext cx="1344415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Arrow Connector 65">
                  <a:extLst>
                    <a:ext uri="{FF2B5EF4-FFF2-40B4-BE49-F238E27FC236}">
                      <a16:creationId xmlns:a16="http://schemas.microsoft.com/office/drawing/2014/main" id="{2FAA25AD-27FD-5729-769D-923E94846A69}"/>
                    </a:ext>
                  </a:extLst>
                </p:cNvPr>
                <p:cNvCxnSpPr/>
                <p:nvPr/>
              </p:nvCxnSpPr>
              <p:spPr>
                <a:xfrm>
                  <a:off x="1420730" y="739697"/>
                  <a:ext cx="1344415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Arrow Connector 66">
                  <a:extLst>
                    <a:ext uri="{FF2B5EF4-FFF2-40B4-BE49-F238E27FC236}">
                      <a16:creationId xmlns:a16="http://schemas.microsoft.com/office/drawing/2014/main" id="{069307D8-52F9-601A-2784-D8ADEE99D69C}"/>
                    </a:ext>
                  </a:extLst>
                </p:cNvPr>
                <p:cNvCxnSpPr/>
                <p:nvPr/>
              </p:nvCxnSpPr>
              <p:spPr>
                <a:xfrm>
                  <a:off x="1573130" y="892097"/>
                  <a:ext cx="1344415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A17E07E7-384D-CBCE-F99F-C5B15E0C2A47}"/>
                      </a:ext>
                    </a:extLst>
                  </p:cNvPr>
                  <p:cNvSpPr txBox="1"/>
                  <p:nvPr/>
                </p:nvSpPr>
                <p:spPr>
                  <a:xfrm>
                    <a:off x="2723105" y="606393"/>
                    <a:ext cx="286938" cy="24769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en-LT" sz="9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9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oMath>
                      </m:oMathPara>
                    </a14:m>
                    <a:endParaRPr lang="en-LT" sz="900" dirty="0"/>
                  </a:p>
                </p:txBody>
              </p:sp>
            </mc:Choice>
            <mc:Fallback xmlns=""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A17E07E7-384D-CBCE-F99F-C5B15E0C2A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3105" y="606393"/>
                    <a:ext cx="286938" cy="24769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LT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F62EBD6B-678E-D83A-4BAF-BB8EAC41D8B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0" y="1519978"/>
              <a:ext cx="6832600" cy="5422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51233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C7B90-7B44-3DFD-C65D-0AE04B935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83C11A-D2F6-4125-C2CA-BD9C7D4DBFF7}"/>
              </a:ext>
            </a:extLst>
          </p:cNvPr>
          <p:cNvGrpSpPr/>
          <p:nvPr/>
        </p:nvGrpSpPr>
        <p:grpSpPr>
          <a:xfrm>
            <a:off x="0" y="0"/>
            <a:ext cx="6858000" cy="4305781"/>
            <a:chOff x="0" y="0"/>
            <a:chExt cx="6858000" cy="4305781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698DB23-DD17-269B-F1D9-6A79BF9BDC94}"/>
                </a:ext>
              </a:extLst>
            </p:cNvPr>
            <p:cNvSpPr/>
            <p:nvPr/>
          </p:nvSpPr>
          <p:spPr>
            <a:xfrm>
              <a:off x="0" y="0"/>
              <a:ext cx="6858000" cy="43057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74422747-6D61-E258-0566-0438890C0480}"/>
                </a:ext>
              </a:extLst>
            </p:cNvPr>
            <p:cNvGrpSpPr/>
            <p:nvPr/>
          </p:nvGrpSpPr>
          <p:grpSpPr>
            <a:xfrm>
              <a:off x="3565932" y="139264"/>
              <a:ext cx="3223055" cy="1264757"/>
              <a:chOff x="3525642" y="278536"/>
              <a:chExt cx="3223055" cy="1264757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AD1C2560-AE5D-143B-DD8A-288136AB55C6}"/>
                  </a:ext>
                </a:extLst>
              </p:cNvPr>
              <p:cNvGrpSpPr/>
              <p:nvPr/>
            </p:nvGrpSpPr>
            <p:grpSpPr>
              <a:xfrm>
                <a:off x="3525642" y="278536"/>
                <a:ext cx="3223055" cy="1264757"/>
                <a:chOff x="3525642" y="278536"/>
                <a:chExt cx="3223055" cy="1264757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345C5D27-A8D5-8C62-6F8A-06C1D9D3465C}"/>
                    </a:ext>
                  </a:extLst>
                </p:cNvPr>
                <p:cNvGrpSpPr/>
                <p:nvPr/>
              </p:nvGrpSpPr>
              <p:grpSpPr>
                <a:xfrm>
                  <a:off x="3525642" y="278536"/>
                  <a:ext cx="3223055" cy="1264757"/>
                  <a:chOff x="3428999" y="23082"/>
                  <a:chExt cx="3293767" cy="1264757"/>
                </a:xfrm>
              </p:grpSpPr>
              <p:pic>
                <p:nvPicPr>
                  <p:cNvPr id="47" name="Picture 46" descr="A close-up of a purple thread&#10;&#10;Description automatically generated">
                    <a:extLst>
                      <a:ext uri="{FF2B5EF4-FFF2-40B4-BE49-F238E27FC236}">
                        <a16:creationId xmlns:a16="http://schemas.microsoft.com/office/drawing/2014/main" id="{91C27EE9-2BE9-8456-EE3C-84F91A24F39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3"/>
                  <a:srcRect l="20852" t="37608" r="19699" b="31846"/>
                  <a:stretch/>
                </p:blipFill>
                <p:spPr>
                  <a:xfrm>
                    <a:off x="3428999" y="335864"/>
                    <a:ext cx="3293767" cy="951975"/>
                  </a:xfrm>
                  <a:prstGeom prst="rect">
                    <a:avLst/>
                  </a:prstGeom>
                </p:spPr>
              </p:pic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629892B8-742A-1AD9-1867-1CE023A79B74}"/>
                      </a:ext>
                    </a:extLst>
                  </p:cNvPr>
                  <p:cNvSpPr txBox="1"/>
                  <p:nvPr/>
                </p:nvSpPr>
                <p:spPr>
                  <a:xfrm>
                    <a:off x="3874795" y="23082"/>
                    <a:ext cx="2529860" cy="2308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LT" sz="900" dirty="0">
                        <a:latin typeface="Avenir Light" panose="020B0402020203020204" pitchFamily="34" charset="77"/>
                      </a:rPr>
                      <a:t>EF perpendicular to the somato-dendritic axis</a:t>
                    </a:r>
                  </a:p>
                </p:txBody>
              </p:sp>
            </p:grpSp>
            <p:cxnSp>
              <p:nvCxnSpPr>
                <p:cNvPr id="44" name="Straight Arrow Connector 43">
                  <a:extLst>
                    <a:ext uri="{FF2B5EF4-FFF2-40B4-BE49-F238E27FC236}">
                      <a16:creationId xmlns:a16="http://schemas.microsoft.com/office/drawing/2014/main" id="{EDA073DC-51C0-378B-6571-6678784723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14010" y="538976"/>
                  <a:ext cx="0" cy="46808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253F703B-6A75-1FA3-E33B-CD4F27A502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66410" y="691376"/>
                  <a:ext cx="0" cy="46808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Arrow Connector 45">
                  <a:extLst>
                    <a:ext uri="{FF2B5EF4-FFF2-40B4-BE49-F238E27FC236}">
                      <a16:creationId xmlns:a16="http://schemas.microsoft.com/office/drawing/2014/main" id="{CE0B7603-3D32-BCB9-3F11-6AE018605B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18810" y="843776"/>
                  <a:ext cx="0" cy="46808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0B69BC85-39FB-AFFB-8A29-E11AE73D4534}"/>
                      </a:ext>
                    </a:extLst>
                  </p:cNvPr>
                  <p:cNvSpPr txBox="1"/>
                  <p:nvPr/>
                </p:nvSpPr>
                <p:spPr>
                  <a:xfrm>
                    <a:off x="5011938" y="498741"/>
                    <a:ext cx="286938" cy="24769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en-LT" sz="9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9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oMath>
                      </m:oMathPara>
                    </a14:m>
                    <a:endParaRPr lang="en-LT" sz="900" dirty="0"/>
                  </a:p>
                </p:txBody>
              </p:sp>
            </mc:Choice>
            <mc:Fallback xmlns="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9AC87657-D116-3FFC-23C3-47FBD0C18F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11938" y="498741"/>
                    <a:ext cx="286938" cy="24769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LT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BC39AA5B-7C21-02B7-0A93-BFCD898D6562}"/>
                </a:ext>
              </a:extLst>
            </p:cNvPr>
            <p:cNvGrpSpPr/>
            <p:nvPr/>
          </p:nvGrpSpPr>
          <p:grpSpPr>
            <a:xfrm>
              <a:off x="414972" y="136693"/>
              <a:ext cx="3342968" cy="1307535"/>
              <a:chOff x="308091" y="257147"/>
              <a:chExt cx="3342968" cy="1307535"/>
            </a:xfrm>
          </p:grpSpPr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DFF099DA-01CC-6C0A-20CB-D6786AD31421}"/>
                  </a:ext>
                </a:extLst>
              </p:cNvPr>
              <p:cNvGrpSpPr/>
              <p:nvPr/>
            </p:nvGrpSpPr>
            <p:grpSpPr>
              <a:xfrm>
                <a:off x="308091" y="257147"/>
                <a:ext cx="3342968" cy="1307535"/>
                <a:chOff x="308091" y="257147"/>
                <a:chExt cx="3342968" cy="1307535"/>
              </a:xfrm>
            </p:grpSpPr>
            <p:grpSp>
              <p:nvGrpSpPr>
                <p:cNvPr id="64" name="Group 63">
                  <a:extLst>
                    <a:ext uri="{FF2B5EF4-FFF2-40B4-BE49-F238E27FC236}">
                      <a16:creationId xmlns:a16="http://schemas.microsoft.com/office/drawing/2014/main" id="{589A7FA9-0227-64F7-144A-6397F5DF7E28}"/>
                    </a:ext>
                  </a:extLst>
                </p:cNvPr>
                <p:cNvGrpSpPr/>
                <p:nvPr/>
              </p:nvGrpSpPr>
              <p:grpSpPr>
                <a:xfrm>
                  <a:off x="308091" y="257147"/>
                  <a:ext cx="3342968" cy="1307535"/>
                  <a:chOff x="7548" y="30777"/>
                  <a:chExt cx="3421453" cy="1249367"/>
                </a:xfrm>
              </p:grpSpPr>
              <p:pic>
                <p:nvPicPr>
                  <p:cNvPr id="68" name="Picture 67" descr="A close-up of a purple thread&#10;&#10;Description automatically generated">
                    <a:extLst>
                      <a:ext uri="{FF2B5EF4-FFF2-40B4-BE49-F238E27FC236}">
                        <a16:creationId xmlns:a16="http://schemas.microsoft.com/office/drawing/2014/main" id="{0363C5F0-AE04-B2CA-5063-ABD00C2DF60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3"/>
                  <a:srcRect l="20852" t="37608" r="17394" b="31846"/>
                  <a:stretch/>
                </p:blipFill>
                <p:spPr>
                  <a:xfrm>
                    <a:off x="7548" y="328169"/>
                    <a:ext cx="3421453" cy="951975"/>
                  </a:xfrm>
                  <a:prstGeom prst="rect">
                    <a:avLst/>
                  </a:prstGeom>
                </p:spPr>
              </p:pic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87614250-25F5-D9B1-11B4-9EE054E04C59}"/>
                      </a:ext>
                    </a:extLst>
                  </p:cNvPr>
                  <p:cNvSpPr txBox="1"/>
                  <p:nvPr/>
                </p:nvSpPr>
                <p:spPr>
                  <a:xfrm>
                    <a:off x="624064" y="30777"/>
                    <a:ext cx="2188420" cy="2308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LT" sz="900" dirty="0">
                        <a:latin typeface="Avenir Light" panose="020B0402020203020204" pitchFamily="34" charset="77"/>
                      </a:rPr>
                      <a:t>EF parallel to the somato-dendritic axis</a:t>
                    </a:r>
                  </a:p>
                </p:txBody>
              </p:sp>
            </p:grpSp>
            <p:cxnSp>
              <p:nvCxnSpPr>
                <p:cNvPr id="65" name="Straight Arrow Connector 64">
                  <a:extLst>
                    <a:ext uri="{FF2B5EF4-FFF2-40B4-BE49-F238E27FC236}">
                      <a16:creationId xmlns:a16="http://schemas.microsoft.com/office/drawing/2014/main" id="{60BB2926-67AD-EDA3-9783-2B6463250A7D}"/>
                    </a:ext>
                  </a:extLst>
                </p:cNvPr>
                <p:cNvCxnSpPr/>
                <p:nvPr/>
              </p:nvCxnSpPr>
              <p:spPr>
                <a:xfrm>
                  <a:off x="1268330" y="587297"/>
                  <a:ext cx="1344415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Arrow Connector 65">
                  <a:extLst>
                    <a:ext uri="{FF2B5EF4-FFF2-40B4-BE49-F238E27FC236}">
                      <a16:creationId xmlns:a16="http://schemas.microsoft.com/office/drawing/2014/main" id="{CDCBBCB3-0077-C2BD-2720-03BC89992241}"/>
                    </a:ext>
                  </a:extLst>
                </p:cNvPr>
                <p:cNvCxnSpPr/>
                <p:nvPr/>
              </p:nvCxnSpPr>
              <p:spPr>
                <a:xfrm>
                  <a:off x="1420730" y="739697"/>
                  <a:ext cx="1344415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Arrow Connector 66">
                  <a:extLst>
                    <a:ext uri="{FF2B5EF4-FFF2-40B4-BE49-F238E27FC236}">
                      <a16:creationId xmlns:a16="http://schemas.microsoft.com/office/drawing/2014/main" id="{5A36DBA9-4482-57DF-ADA9-8A108E2FBA8D}"/>
                    </a:ext>
                  </a:extLst>
                </p:cNvPr>
                <p:cNvCxnSpPr/>
                <p:nvPr/>
              </p:nvCxnSpPr>
              <p:spPr>
                <a:xfrm>
                  <a:off x="1573130" y="892097"/>
                  <a:ext cx="1344415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11C68842-E98E-7692-B0AB-5434E06B5EAD}"/>
                      </a:ext>
                    </a:extLst>
                  </p:cNvPr>
                  <p:cNvSpPr txBox="1"/>
                  <p:nvPr/>
                </p:nvSpPr>
                <p:spPr>
                  <a:xfrm>
                    <a:off x="2723105" y="606393"/>
                    <a:ext cx="286938" cy="24769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en-LT" sz="9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9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oMath>
                      </m:oMathPara>
                    </a14:m>
                    <a:endParaRPr lang="en-LT" sz="900" dirty="0"/>
                  </a:p>
                </p:txBody>
              </p:sp>
            </mc:Choice>
            <mc:Fallback xmlns=""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A17E07E7-384D-CBCE-F99F-C5B15E0C2A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3105" y="606393"/>
                    <a:ext cx="286938" cy="24769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LT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CAEB53AF-551A-4335-D817-B1F4DA3CBC1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b="46593"/>
            <a:stretch>
              <a:fillRect/>
            </a:stretch>
          </p:blipFill>
          <p:spPr>
            <a:xfrm>
              <a:off x="22202" y="1389273"/>
              <a:ext cx="6835793" cy="29165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08385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048C1E4-3A78-8643-A498-55C6A820E8A1}"/>
              </a:ext>
            </a:extLst>
          </p:cNvPr>
          <p:cNvGrpSpPr/>
          <p:nvPr/>
        </p:nvGrpSpPr>
        <p:grpSpPr>
          <a:xfrm>
            <a:off x="25400" y="-2882"/>
            <a:ext cx="6807200" cy="4282782"/>
            <a:chOff x="25400" y="-2882"/>
            <a:chExt cx="6807200" cy="4282782"/>
          </a:xfrm>
        </p:grpSpPr>
        <p:pic>
          <p:nvPicPr>
            <p:cNvPr id="5" name="Picture 4" descr="A graph of frequency and frequency&#10;&#10;Description automatically generated with medium confidence">
              <a:extLst>
                <a:ext uri="{FF2B5EF4-FFF2-40B4-BE49-F238E27FC236}">
                  <a16:creationId xmlns:a16="http://schemas.microsoft.com/office/drawing/2014/main" id="{58C3DAC2-B281-82A0-903B-88FB76E40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400" y="0"/>
              <a:ext cx="6807200" cy="4279900"/>
            </a:xfrm>
            <a:prstGeom prst="rect">
              <a:avLst/>
            </a:prstGeom>
          </p:spPr>
        </p:pic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F0AC35F-2D31-A0DC-DA6E-E79E11DC333B}"/>
                </a:ext>
              </a:extLst>
            </p:cNvPr>
            <p:cNvGrpSpPr/>
            <p:nvPr/>
          </p:nvGrpSpPr>
          <p:grpSpPr>
            <a:xfrm rot="5400000">
              <a:off x="-306367" y="789419"/>
              <a:ext cx="2257357" cy="672755"/>
              <a:chOff x="506412" y="5129540"/>
              <a:chExt cx="3342968" cy="996297"/>
            </a:xfrm>
          </p:grpSpPr>
          <p:pic>
            <p:nvPicPr>
              <p:cNvPr id="7" name="Picture 6" descr="A close-up of a purple thread&#10;&#10;Description automatically generated">
                <a:extLst>
                  <a:ext uri="{FF2B5EF4-FFF2-40B4-BE49-F238E27FC236}">
                    <a16:creationId xmlns:a16="http://schemas.microsoft.com/office/drawing/2014/main" id="{0DB83C83-BACF-31D6-7B07-A9BE9B83831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20852" t="37608" r="17394" b="31846"/>
              <a:stretch/>
            </p:blipFill>
            <p:spPr>
              <a:xfrm>
                <a:off x="506412" y="5129540"/>
                <a:ext cx="3342968" cy="996297"/>
              </a:xfrm>
              <a:prstGeom prst="rect">
                <a:avLst/>
              </a:prstGeom>
            </p:spPr>
          </p:pic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43BCC05D-420B-67CE-7A4A-82D8C491E39B}"/>
                  </a:ext>
                </a:extLst>
              </p:cNvPr>
              <p:cNvCxnSpPr/>
              <p:nvPr/>
            </p:nvCxnSpPr>
            <p:spPr>
              <a:xfrm>
                <a:off x="1466651" y="5148452"/>
                <a:ext cx="134441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5221070A-BF4E-22B2-B6B9-B031774CE264}"/>
                  </a:ext>
                </a:extLst>
              </p:cNvPr>
              <p:cNvCxnSpPr/>
              <p:nvPr/>
            </p:nvCxnSpPr>
            <p:spPr>
              <a:xfrm>
                <a:off x="1619051" y="5300852"/>
                <a:ext cx="134441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B8E429DC-43EF-FA83-BC1A-911BFA243EF4}"/>
                  </a:ext>
                </a:extLst>
              </p:cNvPr>
              <p:cNvCxnSpPr/>
              <p:nvPr/>
            </p:nvCxnSpPr>
            <p:spPr>
              <a:xfrm>
                <a:off x="1771451" y="5453252"/>
                <a:ext cx="134441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A7BB236-39B9-3A9B-0FE0-970C331B4460}"/>
                </a:ext>
              </a:extLst>
            </p:cNvPr>
            <p:cNvGrpSpPr/>
            <p:nvPr/>
          </p:nvGrpSpPr>
          <p:grpSpPr>
            <a:xfrm rot="5400000">
              <a:off x="-249987" y="2825440"/>
              <a:ext cx="2148020" cy="669332"/>
              <a:chOff x="2399605" y="5099359"/>
              <a:chExt cx="3223055" cy="1004317"/>
            </a:xfrm>
          </p:grpSpPr>
          <p:pic>
            <p:nvPicPr>
              <p:cNvPr id="13" name="Picture 12" descr="A close-up of a purple thread&#10;&#10;Description automatically generated">
                <a:extLst>
                  <a:ext uri="{FF2B5EF4-FFF2-40B4-BE49-F238E27FC236}">
                    <a16:creationId xmlns:a16="http://schemas.microsoft.com/office/drawing/2014/main" id="{547072F1-0B8A-354C-B3E4-5E657E0C8CD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20852" t="37608" r="19699" b="31846"/>
              <a:stretch/>
            </p:blipFill>
            <p:spPr>
              <a:xfrm>
                <a:off x="2399605" y="5151701"/>
                <a:ext cx="3223055" cy="951975"/>
              </a:xfrm>
              <a:prstGeom prst="rect">
                <a:avLst/>
              </a:prstGeom>
            </p:spPr>
          </p:pic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7DA231C1-3781-B044-1219-8D7274B564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87973" y="5099359"/>
                <a:ext cx="0" cy="46808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79AA4B78-D514-53A7-4279-009B220126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40373" y="5251759"/>
                <a:ext cx="0" cy="46808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08E16806-C22A-868F-14AC-D4E1928508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92773" y="5404159"/>
                <a:ext cx="0" cy="46808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2DC7ED3-C449-4D4E-10DD-EC30AEEB74F4}"/>
                    </a:ext>
                  </a:extLst>
                </p:cNvPr>
                <p:cNvSpPr txBox="1"/>
                <p:nvPr/>
              </p:nvSpPr>
              <p:spPr>
                <a:xfrm>
                  <a:off x="893715" y="2765166"/>
                  <a:ext cx="286938" cy="2476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LT" sz="9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oMath>
                    </m:oMathPara>
                  </a14:m>
                  <a:endParaRPr lang="en-LT" sz="9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2DC7ED3-C449-4D4E-10DD-EC30AEEB74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3715" y="2765166"/>
                  <a:ext cx="286938" cy="24769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L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1F44341-0511-E0AF-203E-7CAB7279B655}"/>
                    </a:ext>
                  </a:extLst>
                </p:cNvPr>
                <p:cNvSpPr txBox="1"/>
                <p:nvPr/>
              </p:nvSpPr>
              <p:spPr>
                <a:xfrm>
                  <a:off x="1125991" y="946290"/>
                  <a:ext cx="286938" cy="2476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LT" sz="9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9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oMath>
                    </m:oMathPara>
                  </a14:m>
                  <a:endParaRPr lang="en-LT" sz="9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1F44341-0511-E0AF-203E-7CAB7279B6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5991" y="946290"/>
                  <a:ext cx="286938" cy="24769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LT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388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DB4F7A3D-9268-D812-886C-94E639B9A6E9}"/>
              </a:ext>
            </a:extLst>
          </p:cNvPr>
          <p:cNvGrpSpPr/>
          <p:nvPr/>
        </p:nvGrpSpPr>
        <p:grpSpPr>
          <a:xfrm>
            <a:off x="0" y="0"/>
            <a:ext cx="6857999" cy="7489332"/>
            <a:chOff x="0" y="0"/>
            <a:chExt cx="6857999" cy="7489332"/>
          </a:xfrm>
        </p:grpSpPr>
        <p:pic>
          <p:nvPicPr>
            <p:cNvPr id="98" name="Picture 97">
              <a:extLst>
                <a:ext uri="{FF2B5EF4-FFF2-40B4-BE49-F238E27FC236}">
                  <a16:creationId xmlns:a16="http://schemas.microsoft.com/office/drawing/2014/main" id="{72E16078-C295-3DE8-2BCE-AE499DCEDF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0" y="0"/>
              <a:ext cx="6857999" cy="7489332"/>
            </a:xfrm>
            <a:prstGeom prst="rect">
              <a:avLst/>
            </a:prstGeom>
          </p:spPr>
        </p:pic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67560953-D6F2-5D25-4A2D-9B49742CAA70}"/>
                </a:ext>
              </a:extLst>
            </p:cNvPr>
            <p:cNvCxnSpPr>
              <a:cxnSpLocks/>
            </p:cNvCxnSpPr>
            <p:nvPr/>
          </p:nvCxnSpPr>
          <p:spPr>
            <a:xfrm>
              <a:off x="781777" y="1047023"/>
              <a:ext cx="1617862" cy="649638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13753A9F-1A31-6142-18CB-D4884CC1E5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99639" y="1025477"/>
              <a:ext cx="1755801" cy="67118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8" name="Picture 17" descr="A computer graphics of a brain&#10;&#10;Description automatically generated with medium confidence">
              <a:extLst>
                <a:ext uri="{FF2B5EF4-FFF2-40B4-BE49-F238E27FC236}">
                  <a16:creationId xmlns:a16="http://schemas.microsoft.com/office/drawing/2014/main" id="{631AF55D-85EC-FC2A-7F85-3C2E607AB88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798" t="38743" r="18987" b="29752"/>
            <a:stretch/>
          </p:blipFill>
          <p:spPr>
            <a:xfrm>
              <a:off x="627665" y="1391979"/>
              <a:ext cx="4020634" cy="12453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12357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8F6C4-DD10-049E-10AC-7AFBE3BD3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677FECEF-C279-60EB-0D4D-D53D58E66D6E}"/>
              </a:ext>
            </a:extLst>
          </p:cNvPr>
          <p:cNvGrpSpPr/>
          <p:nvPr/>
        </p:nvGrpSpPr>
        <p:grpSpPr>
          <a:xfrm>
            <a:off x="0" y="0"/>
            <a:ext cx="6858000" cy="5397271"/>
            <a:chOff x="0" y="0"/>
            <a:chExt cx="6858000" cy="5397271"/>
          </a:xfrm>
        </p:grpSpPr>
        <p:pic>
          <p:nvPicPr>
            <p:cNvPr id="5" name="Picture 4" descr="A screenshot of a graph&#10;&#10;AI-generated content may be incorrect.">
              <a:extLst>
                <a:ext uri="{FF2B5EF4-FFF2-40B4-BE49-F238E27FC236}">
                  <a16:creationId xmlns:a16="http://schemas.microsoft.com/office/drawing/2014/main" id="{740A6DA6-76FD-8DA0-5CF0-9B1FBAF19C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6858000" cy="5397271"/>
            </a:xfrm>
            <a:prstGeom prst="rect">
              <a:avLst/>
            </a:prstGeom>
          </p:spPr>
        </p:pic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6467E2B8-0B15-D8A9-572B-549555C5F81E}"/>
                </a:ext>
              </a:extLst>
            </p:cNvPr>
            <p:cNvCxnSpPr>
              <a:cxnSpLocks/>
            </p:cNvCxnSpPr>
            <p:nvPr/>
          </p:nvCxnSpPr>
          <p:spPr>
            <a:xfrm>
              <a:off x="781777" y="1047023"/>
              <a:ext cx="1617862" cy="649638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642FA6D-EB42-637B-134F-BBD74D28D1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99639" y="1025477"/>
              <a:ext cx="1755801" cy="67118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8" name="Picture 17" descr="A computer graphics of a brain&#10;&#10;Description automatically generated with medium confidence">
              <a:extLst>
                <a:ext uri="{FF2B5EF4-FFF2-40B4-BE49-F238E27FC236}">
                  <a16:creationId xmlns:a16="http://schemas.microsoft.com/office/drawing/2014/main" id="{03A74FDE-4F84-5A46-6A42-93853F60CC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798" t="38743" r="18987" b="29752"/>
            <a:stretch/>
          </p:blipFill>
          <p:spPr>
            <a:xfrm>
              <a:off x="627665" y="1391979"/>
              <a:ext cx="4020634" cy="12453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47625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AA96859-9EC1-8FBC-413A-7C985811A892}"/>
              </a:ext>
            </a:extLst>
          </p:cNvPr>
          <p:cNvGrpSpPr/>
          <p:nvPr/>
        </p:nvGrpSpPr>
        <p:grpSpPr>
          <a:xfrm>
            <a:off x="-60457" y="0"/>
            <a:ext cx="6918457" cy="4682509"/>
            <a:chOff x="-60457" y="0"/>
            <a:chExt cx="6918457" cy="4682509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ED4655D-B609-8F1E-7151-5101E3EC4FD9}"/>
                </a:ext>
              </a:extLst>
            </p:cNvPr>
            <p:cNvSpPr/>
            <p:nvPr/>
          </p:nvSpPr>
          <p:spPr>
            <a:xfrm>
              <a:off x="0" y="0"/>
              <a:ext cx="6858000" cy="46825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CB1A4C1-77EF-A09E-99C3-8FD42ED29975}"/>
                </a:ext>
              </a:extLst>
            </p:cNvPr>
            <p:cNvGrpSpPr/>
            <p:nvPr/>
          </p:nvGrpSpPr>
          <p:grpSpPr>
            <a:xfrm>
              <a:off x="-60457" y="79990"/>
              <a:ext cx="6760059" cy="4602519"/>
              <a:chOff x="-60457" y="79990"/>
              <a:chExt cx="6760059" cy="4602519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B0A6E56E-A5D3-27B7-1C0E-355C38CD0D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/>
              <a:stretch/>
            </p:blipFill>
            <p:spPr>
              <a:xfrm>
                <a:off x="165010" y="79990"/>
                <a:ext cx="6534592" cy="4602519"/>
              </a:xfrm>
              <a:prstGeom prst="rect">
                <a:avLst/>
              </a:prstGeom>
            </p:spPr>
          </p:pic>
          <p:pic>
            <p:nvPicPr>
              <p:cNvPr id="5" name="Picture 4" descr="A computer generated image of a brain&#10;&#10;Description automatically generated">
                <a:extLst>
                  <a:ext uri="{FF2B5EF4-FFF2-40B4-BE49-F238E27FC236}">
                    <a16:creationId xmlns:a16="http://schemas.microsoft.com/office/drawing/2014/main" id="{C81A9B22-A00B-FE10-E269-05985C1F292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22701" t="35402" r="17795" b="27182"/>
              <a:stretch/>
            </p:blipFill>
            <p:spPr>
              <a:xfrm>
                <a:off x="-60457" y="385408"/>
                <a:ext cx="4265468" cy="150871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145923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screenshot of a graph&#10;&#10;AI-generated content may be incorrect.">
            <a:extLst>
              <a:ext uri="{FF2B5EF4-FFF2-40B4-BE49-F238E27FC236}">
                <a16:creationId xmlns:a16="http://schemas.microsoft.com/office/drawing/2014/main" id="{4467ACD3-0243-CB53-D868-F4892F15C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49" y="1"/>
            <a:ext cx="6510701" cy="990758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DB4927FB-C962-A4A4-FEA5-2170FE28AB73}"/>
              </a:ext>
            </a:extLst>
          </p:cNvPr>
          <p:cNvGrpSpPr/>
          <p:nvPr/>
        </p:nvGrpSpPr>
        <p:grpSpPr>
          <a:xfrm>
            <a:off x="432703" y="0"/>
            <a:ext cx="1182235" cy="2031783"/>
            <a:chOff x="2950227" y="4531676"/>
            <a:chExt cx="1711301" cy="2941032"/>
          </a:xfrm>
        </p:grpSpPr>
        <p:pic>
          <p:nvPicPr>
            <p:cNvPr id="6" name="Picture 5" descr="A computer graphics of a brain&#10;&#10;Description automatically generated with medium confidence">
              <a:extLst>
                <a:ext uri="{FF2B5EF4-FFF2-40B4-BE49-F238E27FC236}">
                  <a16:creationId xmlns:a16="http://schemas.microsoft.com/office/drawing/2014/main" id="{AD12EF58-ADB1-4AFC-5B63-D49B16AEF68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4158" t="38584" r="35384" b="29911"/>
            <a:stretch>
              <a:fillRect/>
            </a:stretch>
          </p:blipFill>
          <p:spPr>
            <a:xfrm rot="16200000">
              <a:off x="2335366" y="5146546"/>
              <a:ext cx="2941031" cy="1711293"/>
            </a:xfrm>
            <a:prstGeom prst="rect">
              <a:avLst/>
            </a:prstGeom>
            <a:effectLst>
              <a:softEdge rad="0"/>
            </a:effectLst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BADC934-8943-986F-3C85-7DE52DF3D95E}"/>
                </a:ext>
              </a:extLst>
            </p:cNvPr>
            <p:cNvSpPr/>
            <p:nvPr/>
          </p:nvSpPr>
          <p:spPr>
            <a:xfrm>
              <a:off x="2950232" y="4953794"/>
              <a:ext cx="1711295" cy="2518914"/>
            </a:xfrm>
            <a:prstGeom prst="rect">
              <a:avLst/>
            </a:prstGeom>
            <a:gradFill flip="none" rotWithShape="1">
              <a:gsLst>
                <a:gs pos="57000">
                  <a:schemeClr val="bg1">
                    <a:alpha val="0"/>
                  </a:schemeClr>
                </a:gs>
                <a:gs pos="93000">
                  <a:schemeClr val="bg1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91814DC-61B5-EBEC-37E0-64D20CA91E7E}"/>
                </a:ext>
              </a:extLst>
            </p:cNvPr>
            <p:cNvSpPr/>
            <p:nvPr/>
          </p:nvSpPr>
          <p:spPr>
            <a:xfrm rot="10800000">
              <a:off x="2950227" y="4531676"/>
              <a:ext cx="1711295" cy="2518914"/>
            </a:xfrm>
            <a:prstGeom prst="rect">
              <a:avLst/>
            </a:prstGeom>
            <a:gradFill flip="none" rotWithShape="1">
              <a:gsLst>
                <a:gs pos="58000">
                  <a:schemeClr val="bg1">
                    <a:alpha val="0"/>
                  </a:schemeClr>
                </a:gs>
                <a:gs pos="93000">
                  <a:schemeClr val="bg1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1A2E777-6845-7430-3179-0595F5F69CF4}"/>
              </a:ext>
            </a:extLst>
          </p:cNvPr>
          <p:cNvCxnSpPr>
            <a:cxnSpLocks/>
          </p:cNvCxnSpPr>
          <p:nvPr/>
        </p:nvCxnSpPr>
        <p:spPr>
          <a:xfrm flipV="1">
            <a:off x="892629" y="370115"/>
            <a:ext cx="727748" cy="446314"/>
          </a:xfrm>
          <a:prstGeom prst="line">
            <a:avLst/>
          </a:prstGeom>
          <a:ln w="9525" cap="flat" cmpd="sng" algn="ctr">
            <a:solidFill>
              <a:schemeClr val="bg2">
                <a:lumMod val="25000"/>
              </a:schemeClr>
            </a:solidFill>
            <a:prstDash val="solid"/>
            <a:round/>
            <a:headEnd type="triangle" w="sm" len="sm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0C12364-9159-13ED-4C94-664329EB9501}"/>
              </a:ext>
            </a:extLst>
          </p:cNvPr>
          <p:cNvCxnSpPr>
            <a:cxnSpLocks/>
          </p:cNvCxnSpPr>
          <p:nvPr/>
        </p:nvCxnSpPr>
        <p:spPr>
          <a:xfrm flipV="1">
            <a:off x="1012932" y="495301"/>
            <a:ext cx="602002" cy="321128"/>
          </a:xfrm>
          <a:prstGeom prst="line">
            <a:avLst/>
          </a:prstGeom>
          <a:ln w="9525" cap="flat" cmpd="sng" algn="ctr">
            <a:solidFill>
              <a:schemeClr val="bg2">
                <a:lumMod val="25000"/>
              </a:schemeClr>
            </a:solidFill>
            <a:prstDash val="solid"/>
            <a:round/>
            <a:headEnd type="triangle" w="sm" len="sm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C821CE8-B97D-C35E-A4BA-9225B05B737E}"/>
              </a:ext>
            </a:extLst>
          </p:cNvPr>
          <p:cNvCxnSpPr>
            <a:cxnSpLocks/>
          </p:cNvCxnSpPr>
          <p:nvPr/>
        </p:nvCxnSpPr>
        <p:spPr>
          <a:xfrm flipV="1">
            <a:off x="1077686" y="619051"/>
            <a:ext cx="542692" cy="360000"/>
          </a:xfrm>
          <a:prstGeom prst="line">
            <a:avLst/>
          </a:prstGeom>
          <a:ln w="9525" cap="flat" cmpd="sng" algn="ctr">
            <a:solidFill>
              <a:schemeClr val="bg2">
                <a:lumMod val="25000"/>
              </a:schemeClr>
            </a:solidFill>
            <a:prstDash val="solid"/>
            <a:round/>
            <a:headEnd type="triangle" w="sm" len="sm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6905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5FF77578-5737-BC59-8A4E-32ED1705DEC1}"/>
              </a:ext>
            </a:extLst>
          </p:cNvPr>
          <p:cNvGrpSpPr/>
          <p:nvPr/>
        </p:nvGrpSpPr>
        <p:grpSpPr>
          <a:xfrm>
            <a:off x="0" y="0"/>
            <a:ext cx="6857999" cy="5307724"/>
            <a:chOff x="0" y="0"/>
            <a:chExt cx="6857999" cy="530772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C33EA3E-812B-89C9-FFBC-EDC66A8445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0" y="0"/>
              <a:ext cx="6857999" cy="5307724"/>
            </a:xfrm>
            <a:prstGeom prst="rect">
              <a:avLst/>
            </a:prstGeom>
          </p:spPr>
        </p:pic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294C600-888D-2D98-3684-2726954A1A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97200" y="1860837"/>
              <a:ext cx="923638" cy="345505"/>
            </a:xfrm>
            <a:prstGeom prst="line">
              <a:avLst/>
            </a:prstGeom>
            <a:ln>
              <a:solidFill>
                <a:srgbClr val="7800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297AB1B-4184-DCB0-6FE5-327218B48B4A}"/>
                </a:ext>
              </a:extLst>
            </p:cNvPr>
            <p:cNvCxnSpPr>
              <a:cxnSpLocks/>
            </p:cNvCxnSpPr>
            <p:nvPr/>
          </p:nvCxnSpPr>
          <p:spPr>
            <a:xfrm>
              <a:off x="3493297" y="1768749"/>
              <a:ext cx="1904134" cy="437593"/>
            </a:xfrm>
            <a:prstGeom prst="line">
              <a:avLst/>
            </a:prstGeom>
            <a:ln>
              <a:solidFill>
                <a:srgbClr val="7800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 descr="A computer generated image of a brain&#10;&#10;AI-generated content may be incorrect.">
              <a:extLst>
                <a:ext uri="{FF2B5EF4-FFF2-40B4-BE49-F238E27FC236}">
                  <a16:creationId xmlns:a16="http://schemas.microsoft.com/office/drawing/2014/main" id="{2E2BE29D-B91E-564B-BE25-7F76256F69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4433" t="41288" r="19855" b="36090"/>
            <a:stretch>
              <a:fillRect/>
            </a:stretch>
          </p:blipFill>
          <p:spPr>
            <a:xfrm>
              <a:off x="1897200" y="1458000"/>
              <a:ext cx="3199114" cy="730687"/>
            </a:xfrm>
            <a:prstGeom prst="rect">
              <a:avLst/>
            </a:prstGeom>
          </p:spPr>
        </p:pic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1A10491-BB00-91F4-FDF8-6DDB48E661D6}"/>
                </a:ext>
              </a:extLst>
            </p:cNvPr>
            <p:cNvCxnSpPr>
              <a:cxnSpLocks/>
            </p:cNvCxnSpPr>
            <p:nvPr/>
          </p:nvCxnSpPr>
          <p:spPr>
            <a:xfrm>
              <a:off x="3303917" y="1201077"/>
              <a:ext cx="0" cy="409921"/>
            </a:xfrm>
            <a:prstGeom prst="straightConnector1">
              <a:avLst/>
            </a:prstGeom>
            <a:ln w="12700">
              <a:solidFill>
                <a:srgbClr val="78003F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2CC28992-AAE6-E5F2-15BC-03EB4C1460CF}"/>
                </a:ext>
              </a:extLst>
            </p:cNvPr>
            <p:cNvCxnSpPr>
              <a:cxnSpLocks/>
            </p:cNvCxnSpPr>
            <p:nvPr/>
          </p:nvCxnSpPr>
          <p:spPr>
            <a:xfrm>
              <a:off x="3214777" y="1201077"/>
              <a:ext cx="0" cy="569819"/>
            </a:xfrm>
            <a:prstGeom prst="straightConnector1">
              <a:avLst/>
            </a:prstGeom>
            <a:ln w="12700">
              <a:solidFill>
                <a:srgbClr val="78003F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7B3A103E-C7BE-F0E0-DF2F-E4064F6FD91E}"/>
                </a:ext>
              </a:extLst>
            </p:cNvPr>
            <p:cNvCxnSpPr>
              <a:cxnSpLocks/>
            </p:cNvCxnSpPr>
            <p:nvPr/>
          </p:nvCxnSpPr>
          <p:spPr>
            <a:xfrm>
              <a:off x="3387203" y="1201077"/>
              <a:ext cx="0" cy="535708"/>
            </a:xfrm>
            <a:prstGeom prst="straightConnector1">
              <a:avLst/>
            </a:prstGeom>
            <a:ln w="12700">
              <a:solidFill>
                <a:srgbClr val="78003F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FD8023F-45A9-E80F-05AD-FCE8326075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3297" y="985999"/>
              <a:ext cx="1128130" cy="750786"/>
            </a:xfrm>
            <a:prstGeom prst="line">
              <a:avLst/>
            </a:prstGeom>
            <a:ln>
              <a:solidFill>
                <a:srgbClr val="7800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C5B3704-C81E-73DB-50D5-21E13AAB0F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49091" y="469986"/>
              <a:ext cx="548340" cy="364928"/>
            </a:xfrm>
            <a:prstGeom prst="line">
              <a:avLst/>
            </a:prstGeom>
            <a:ln>
              <a:solidFill>
                <a:srgbClr val="7800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676AD7A-9720-2E0F-E29D-26F0D94BBF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39875" y="985999"/>
              <a:ext cx="580963" cy="874838"/>
            </a:xfrm>
            <a:prstGeom prst="line">
              <a:avLst/>
            </a:prstGeom>
            <a:ln>
              <a:solidFill>
                <a:srgbClr val="7800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43DB8A8-24C0-D28D-3D59-F4CA247B6E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98328" y="469232"/>
              <a:ext cx="150423" cy="226514"/>
            </a:xfrm>
            <a:prstGeom prst="line">
              <a:avLst/>
            </a:prstGeom>
            <a:ln>
              <a:solidFill>
                <a:srgbClr val="7800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34388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132">
            <a:extLst>
              <a:ext uri="{FF2B5EF4-FFF2-40B4-BE49-F238E27FC236}">
                <a16:creationId xmlns:a16="http://schemas.microsoft.com/office/drawing/2014/main" id="{2AE3F6C3-E517-1104-7D48-6A540224645E}"/>
              </a:ext>
            </a:extLst>
          </p:cNvPr>
          <p:cNvSpPr/>
          <p:nvPr/>
        </p:nvSpPr>
        <p:spPr>
          <a:xfrm>
            <a:off x="21141" y="170022"/>
            <a:ext cx="6835302" cy="2895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T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A6E417D-003A-33C7-CF09-C4C50F83D49B}"/>
              </a:ext>
            </a:extLst>
          </p:cNvPr>
          <p:cNvSpPr txBox="1"/>
          <p:nvPr/>
        </p:nvSpPr>
        <p:spPr>
          <a:xfrm>
            <a:off x="4909444" y="136423"/>
            <a:ext cx="1714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LT" sz="900" b="1">
                <a:latin typeface="Avenir Light" panose="020B0402020203020204" pitchFamily="34" charset="77"/>
              </a:rPr>
              <a:t>Applied TI stimulation during the LTP induction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582A3329-BECB-2A26-44E9-3D2709CC6E3E}"/>
              </a:ext>
            </a:extLst>
          </p:cNvPr>
          <p:cNvSpPr txBox="1"/>
          <p:nvPr/>
        </p:nvSpPr>
        <p:spPr>
          <a:xfrm>
            <a:off x="698948" y="136423"/>
            <a:ext cx="18511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LT" sz="900" b="1">
                <a:latin typeface="Avenir Light" panose="020B0402020203020204" pitchFamily="34" charset="77"/>
              </a:rPr>
              <a:t>LTP protocol for each synapse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D0BBC43-D584-FC19-6CAD-7993CD6CB645}"/>
              </a:ext>
            </a:extLst>
          </p:cNvPr>
          <p:cNvSpPr txBox="1"/>
          <p:nvPr/>
        </p:nvSpPr>
        <p:spPr>
          <a:xfrm>
            <a:off x="3309681" y="136423"/>
            <a:ext cx="149217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LT" sz="900" b="1">
                <a:latin typeface="Avenir Light" panose="020B0402020203020204" pitchFamily="34" charset="77"/>
              </a:rPr>
              <a:t>LTP protocol was applied under different synaptic configurations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A486F78-6EB0-1E56-9F81-CAA4DCFF0483}"/>
              </a:ext>
            </a:extLst>
          </p:cNvPr>
          <p:cNvGrpSpPr/>
          <p:nvPr/>
        </p:nvGrpSpPr>
        <p:grpSpPr>
          <a:xfrm>
            <a:off x="3354198" y="819874"/>
            <a:ext cx="1403144" cy="1400287"/>
            <a:chOff x="1933547" y="3253205"/>
            <a:chExt cx="1403144" cy="1400287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9B762AB-F3CE-E2A1-3FE9-600882F14831}"/>
                </a:ext>
              </a:extLst>
            </p:cNvPr>
            <p:cNvSpPr txBox="1"/>
            <p:nvPr/>
          </p:nvSpPr>
          <p:spPr>
            <a:xfrm>
              <a:off x="1933547" y="4284160"/>
              <a:ext cx="14031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LT" sz="900">
                  <a:latin typeface="Avenir Light" panose="020B0402020203020204" pitchFamily="34" charset="77"/>
                </a:rPr>
                <a:t>× 20 neurons</a:t>
              </a:r>
            </a:p>
            <a:p>
              <a:pPr algn="ctr"/>
              <a:r>
                <a:rPr lang="en-LT" sz="900">
                  <a:latin typeface="Avenir Light" panose="020B0402020203020204" pitchFamily="34" charset="77"/>
                </a:rPr>
                <a:t>(with 10 synapses each)</a:t>
              </a: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CCE79391-78BB-64C7-4152-CA7D8E23B213}"/>
                </a:ext>
              </a:extLst>
            </p:cNvPr>
            <p:cNvGrpSpPr/>
            <p:nvPr/>
          </p:nvGrpSpPr>
          <p:grpSpPr>
            <a:xfrm>
              <a:off x="2176036" y="3253205"/>
              <a:ext cx="918167" cy="1083012"/>
              <a:chOff x="2181715" y="3253205"/>
              <a:chExt cx="918167" cy="1083012"/>
            </a:xfrm>
          </p:grpSpPr>
          <p:pic>
            <p:nvPicPr>
              <p:cNvPr id="21" name="Picture 20" descr="A black background with red dots&#10;&#10;AI-generated content may be incorrect.">
                <a:extLst>
                  <a:ext uri="{FF2B5EF4-FFF2-40B4-BE49-F238E27FC236}">
                    <a16:creationId xmlns:a16="http://schemas.microsoft.com/office/drawing/2014/main" id="{166AC009-6A08-0620-CF23-DC262C2F2E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23494" t="37097" r="19122" b="37098"/>
              <a:stretch>
                <a:fillRect/>
              </a:stretch>
            </p:blipFill>
            <p:spPr>
              <a:xfrm rot="5400000">
                <a:off x="2100129" y="3657911"/>
                <a:ext cx="1081675" cy="273600"/>
              </a:xfrm>
              <a:prstGeom prst="rect">
                <a:avLst/>
              </a:prstGeom>
            </p:spPr>
          </p:pic>
          <p:pic>
            <p:nvPicPr>
              <p:cNvPr id="23" name="Picture 22" descr="A purple and red branches with small red dots&#10;&#10;AI-generated content may be incorrect.">
                <a:extLst>
                  <a:ext uri="{FF2B5EF4-FFF2-40B4-BE49-F238E27FC236}">
                    <a16:creationId xmlns:a16="http://schemas.microsoft.com/office/drawing/2014/main" id="{B1B13EEE-E03C-2FEE-CB5E-670FA2175B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23494" t="38420" r="19122" b="35776"/>
              <a:stretch>
                <a:fillRect/>
              </a:stretch>
            </p:blipFill>
            <p:spPr>
              <a:xfrm rot="5400000">
                <a:off x="1777178" y="3657742"/>
                <a:ext cx="1083012" cy="273938"/>
              </a:xfrm>
              <a:prstGeom prst="rect">
                <a:avLst/>
              </a:prstGeom>
            </p:spPr>
          </p:pic>
          <p:pic>
            <p:nvPicPr>
              <p:cNvPr id="25" name="Picture 24" descr="A purple and black background&#10;&#10;AI-generated content may be incorrect.">
                <a:extLst>
                  <a:ext uri="{FF2B5EF4-FFF2-40B4-BE49-F238E27FC236}">
                    <a16:creationId xmlns:a16="http://schemas.microsoft.com/office/drawing/2014/main" id="{AC94B9C1-29FE-3192-8142-1C0AEA4261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23493" t="37097" r="19122" b="37098"/>
              <a:stretch>
                <a:fillRect/>
              </a:stretch>
            </p:blipFill>
            <p:spPr>
              <a:xfrm rot="5400000">
                <a:off x="2422244" y="3657911"/>
                <a:ext cx="1081675" cy="273600"/>
              </a:xfrm>
              <a:prstGeom prst="rect">
                <a:avLst/>
              </a:prstGeom>
            </p:spPr>
          </p:pic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7D41EEF-9CC9-DF84-5B1B-FD5A509A19B0}"/>
              </a:ext>
            </a:extLst>
          </p:cNvPr>
          <p:cNvGrpSpPr/>
          <p:nvPr/>
        </p:nvGrpSpPr>
        <p:grpSpPr>
          <a:xfrm>
            <a:off x="192547" y="329584"/>
            <a:ext cx="3223151" cy="1838942"/>
            <a:chOff x="192547" y="329584"/>
            <a:chExt cx="3223151" cy="1838942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282B21A9-D5D9-403A-D67E-F11A5386914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192547" y="329584"/>
              <a:ext cx="2882900" cy="1104900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D4212829-CDEE-4BEF-633C-FAD350432689}"/>
                </a:ext>
              </a:extLst>
            </p:cNvPr>
            <p:cNvGrpSpPr/>
            <p:nvPr/>
          </p:nvGrpSpPr>
          <p:grpSpPr>
            <a:xfrm>
              <a:off x="242688" y="1378307"/>
              <a:ext cx="3173010" cy="790219"/>
              <a:chOff x="242688" y="1336148"/>
              <a:chExt cx="3173010" cy="790219"/>
            </a:xfrm>
          </p:grpSpPr>
          <p:pic>
            <p:nvPicPr>
              <p:cNvPr id="31" name="Picture 30" descr="A black background with red dots&#10;&#10;AI-generated content may be incorrect.">
                <a:extLst>
                  <a:ext uri="{FF2B5EF4-FFF2-40B4-BE49-F238E27FC236}">
                    <a16:creationId xmlns:a16="http://schemas.microsoft.com/office/drawing/2014/main" id="{363C9449-A212-9E18-D928-8CDFB6FB4F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24571" t="40997" r="19747" b="36930"/>
              <a:stretch>
                <a:fillRect/>
              </a:stretch>
            </p:blipFill>
            <p:spPr>
              <a:xfrm>
                <a:off x="242688" y="1418841"/>
                <a:ext cx="3173010" cy="707526"/>
              </a:xfrm>
              <a:prstGeom prst="rect">
                <a:avLst/>
              </a:prstGeom>
            </p:spPr>
          </p:pic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EB885FD6-E492-580E-7C98-F994FDF589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32432" y="1336148"/>
                <a:ext cx="0" cy="239515"/>
              </a:xfrm>
              <a:prstGeom prst="straightConnector1">
                <a:avLst/>
              </a:prstGeom>
              <a:ln w="12700">
                <a:solidFill>
                  <a:srgbClr val="78003F"/>
                </a:solidFill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4DAB3722-2529-7BCD-9123-0F40BEC266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6535" y="1336148"/>
                <a:ext cx="0" cy="403908"/>
              </a:xfrm>
              <a:prstGeom prst="straightConnector1">
                <a:avLst/>
              </a:prstGeom>
              <a:ln w="12700">
                <a:solidFill>
                  <a:srgbClr val="78003F"/>
                </a:solidFill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DD19BD52-A6A2-1CCB-9BA7-55039B0131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14018" y="1336148"/>
                <a:ext cx="0" cy="368482"/>
              </a:xfrm>
              <a:prstGeom prst="straightConnector1">
                <a:avLst/>
              </a:prstGeom>
              <a:ln w="12700">
                <a:solidFill>
                  <a:srgbClr val="78003F"/>
                </a:solidFill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840C1E8-58CC-4D73-205C-2A47620FE322}"/>
              </a:ext>
            </a:extLst>
          </p:cNvPr>
          <p:cNvGrpSpPr/>
          <p:nvPr/>
        </p:nvGrpSpPr>
        <p:grpSpPr>
          <a:xfrm>
            <a:off x="4769686" y="591704"/>
            <a:ext cx="1943568" cy="1996099"/>
            <a:chOff x="1945810" y="2645648"/>
            <a:chExt cx="1943568" cy="1996099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24AD97DA-2D95-5CF2-34F5-817ACB9AD1BA}"/>
                </a:ext>
              </a:extLst>
            </p:cNvPr>
            <p:cNvGrpSpPr/>
            <p:nvPr/>
          </p:nvGrpSpPr>
          <p:grpSpPr>
            <a:xfrm>
              <a:off x="2819018" y="3061922"/>
              <a:ext cx="1070360" cy="511200"/>
              <a:chOff x="3902911" y="3046195"/>
              <a:chExt cx="1070360" cy="511200"/>
            </a:xfrm>
          </p:grpSpPr>
          <p:pic>
            <p:nvPicPr>
              <p:cNvPr id="118" name="Picture 117">
                <a:extLst>
                  <a:ext uri="{FF2B5EF4-FFF2-40B4-BE49-F238E27FC236}">
                    <a16:creationId xmlns:a16="http://schemas.microsoft.com/office/drawing/2014/main" id="{B1AFF0E1-EABA-1A57-385C-227DF1B9B2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02911" y="3046195"/>
                <a:ext cx="513237" cy="511200"/>
              </a:xfrm>
              <a:prstGeom prst="rect">
                <a:avLst/>
              </a:prstGeom>
            </p:spPr>
          </p:pic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2A9FBD15-5571-660F-32EE-EF0812FD8D00}"/>
                  </a:ext>
                </a:extLst>
              </p:cNvPr>
              <p:cNvSpPr txBox="1"/>
              <p:nvPr/>
            </p:nvSpPr>
            <p:spPr>
              <a:xfrm>
                <a:off x="4354218" y="3046195"/>
                <a:ext cx="619053" cy="511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LT" sz="900">
                    <a:latin typeface="Avenir Light" panose="020B0402020203020204" pitchFamily="34" charset="77"/>
                  </a:rPr>
                  <a:t>1000 Hz</a:t>
                </a:r>
              </a:p>
              <a:p>
                <a:pPr algn="ctr"/>
                <a:r>
                  <a:rPr lang="en-LT" sz="900">
                    <a:latin typeface="Avenir Light" panose="020B0402020203020204" pitchFamily="34" charset="77"/>
                  </a:rPr>
                  <a:t>+</a:t>
                </a:r>
              </a:p>
              <a:p>
                <a:pPr algn="ctr"/>
                <a:r>
                  <a:rPr lang="en-LT" sz="900">
                    <a:latin typeface="Avenir Light" panose="020B0402020203020204" pitchFamily="34" charset="77"/>
                  </a:rPr>
                  <a:t>1005 Hz</a:t>
                </a: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7DE43021-B52A-516D-5F60-3C6151CF8383}"/>
                </a:ext>
              </a:extLst>
            </p:cNvPr>
            <p:cNvGrpSpPr/>
            <p:nvPr/>
          </p:nvGrpSpPr>
          <p:grpSpPr>
            <a:xfrm>
              <a:off x="2819018" y="3596235"/>
              <a:ext cx="1070360" cy="511200"/>
              <a:chOff x="3902911" y="3586858"/>
              <a:chExt cx="1070360" cy="511200"/>
            </a:xfrm>
          </p:grpSpPr>
          <p:pic>
            <p:nvPicPr>
              <p:cNvPr id="120" name="Picture 119">
                <a:extLst>
                  <a:ext uri="{FF2B5EF4-FFF2-40B4-BE49-F238E27FC236}">
                    <a16:creationId xmlns:a16="http://schemas.microsoft.com/office/drawing/2014/main" id="{CC37BBEE-D444-E4E7-F224-5311DD60F2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902911" y="3586858"/>
                <a:ext cx="513237" cy="511200"/>
              </a:xfrm>
              <a:prstGeom prst="rect">
                <a:avLst/>
              </a:prstGeom>
            </p:spPr>
          </p:pic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35265CEF-67B1-4079-9F37-0B249D75EF4B}"/>
                  </a:ext>
                </a:extLst>
              </p:cNvPr>
              <p:cNvSpPr txBox="1"/>
              <p:nvPr/>
            </p:nvSpPr>
            <p:spPr>
              <a:xfrm>
                <a:off x="4354218" y="3586858"/>
                <a:ext cx="619053" cy="511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LT" sz="900">
                    <a:latin typeface="Avenir Light" panose="020B0402020203020204" pitchFamily="34" charset="77"/>
                  </a:rPr>
                  <a:t>1000 Hz</a:t>
                </a:r>
              </a:p>
              <a:p>
                <a:pPr algn="ctr"/>
                <a:r>
                  <a:rPr lang="en-LT" sz="900">
                    <a:latin typeface="Avenir Light" panose="020B0402020203020204" pitchFamily="34" charset="77"/>
                  </a:rPr>
                  <a:t>+</a:t>
                </a:r>
              </a:p>
              <a:p>
                <a:pPr algn="ctr"/>
                <a:r>
                  <a:rPr lang="en-LT" sz="900">
                    <a:latin typeface="Avenir Light" panose="020B0402020203020204" pitchFamily="34" charset="77"/>
                  </a:rPr>
                  <a:t>1130 Hz</a:t>
                </a: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4FA2E560-8B8B-3FCB-0444-F20817F473F7}"/>
                </a:ext>
              </a:extLst>
            </p:cNvPr>
            <p:cNvGrpSpPr/>
            <p:nvPr/>
          </p:nvGrpSpPr>
          <p:grpSpPr>
            <a:xfrm>
              <a:off x="2819018" y="4130547"/>
              <a:ext cx="1070360" cy="511200"/>
              <a:chOff x="3902911" y="4127520"/>
              <a:chExt cx="1070360" cy="511200"/>
            </a:xfrm>
          </p:grpSpPr>
          <p:pic>
            <p:nvPicPr>
              <p:cNvPr id="122" name="Picture 121">
                <a:extLst>
                  <a:ext uri="{FF2B5EF4-FFF2-40B4-BE49-F238E27FC236}">
                    <a16:creationId xmlns:a16="http://schemas.microsoft.com/office/drawing/2014/main" id="{E60C4786-474F-E25C-9486-527ED1EEF3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02911" y="4127520"/>
                <a:ext cx="513237" cy="511200"/>
              </a:xfrm>
              <a:prstGeom prst="rect">
                <a:avLst/>
              </a:prstGeom>
            </p:spPr>
          </p:pic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29CDDC12-DA2B-3555-89F9-087ACB00C756}"/>
                  </a:ext>
                </a:extLst>
              </p:cNvPr>
              <p:cNvSpPr txBox="1"/>
              <p:nvPr/>
            </p:nvSpPr>
            <p:spPr>
              <a:xfrm>
                <a:off x="4354218" y="4127520"/>
                <a:ext cx="619053" cy="511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LT" sz="900">
                    <a:latin typeface="Avenir Light" panose="020B0402020203020204" pitchFamily="34" charset="77"/>
                  </a:rPr>
                  <a:t>1000 Hz</a:t>
                </a:r>
              </a:p>
              <a:p>
                <a:pPr algn="ctr"/>
                <a:r>
                  <a:rPr lang="en-LT" sz="900">
                    <a:latin typeface="Avenir Light" panose="020B0402020203020204" pitchFamily="34" charset="77"/>
                  </a:rPr>
                  <a:t>+</a:t>
                </a:r>
              </a:p>
              <a:p>
                <a:pPr algn="ctr"/>
                <a:r>
                  <a:rPr lang="en-LT" sz="900">
                    <a:latin typeface="Avenir Light" panose="020B0402020203020204" pitchFamily="34" charset="77"/>
                  </a:rPr>
                  <a:t>1000 Hz</a:t>
                </a:r>
              </a:p>
            </p:txBody>
          </p:sp>
        </p:grpSp>
        <p:pic>
          <p:nvPicPr>
            <p:cNvPr id="44" name="Picture 43" descr="A group of colorful text&#10;&#10;AI-generated content may be incorrect.">
              <a:extLst>
                <a:ext uri="{FF2B5EF4-FFF2-40B4-BE49-F238E27FC236}">
                  <a16:creationId xmlns:a16="http://schemas.microsoft.com/office/drawing/2014/main" id="{FB1D415F-4421-421B-6B25-59A26A5366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36953" t="15808" r="39362" b="16636"/>
            <a:stretch>
              <a:fillRect/>
            </a:stretch>
          </p:blipFill>
          <p:spPr>
            <a:xfrm>
              <a:off x="1945810" y="2645648"/>
              <a:ext cx="866630" cy="18656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16243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>
            <a:extLst>
              <a:ext uri="{FF2B5EF4-FFF2-40B4-BE49-F238E27FC236}">
                <a16:creationId xmlns:a16="http://schemas.microsoft.com/office/drawing/2014/main" id="{C716DD54-4921-42C5-327E-3D9FC66BA1F1}"/>
              </a:ext>
            </a:extLst>
          </p:cNvPr>
          <p:cNvGrpSpPr/>
          <p:nvPr/>
        </p:nvGrpSpPr>
        <p:grpSpPr>
          <a:xfrm>
            <a:off x="0" y="0"/>
            <a:ext cx="6858000" cy="2589734"/>
            <a:chOff x="0" y="0"/>
            <a:chExt cx="6858000" cy="2589734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FBD3EFB0-1AB2-F79B-50BE-361C59FB91D4}"/>
                </a:ext>
              </a:extLst>
            </p:cNvPr>
            <p:cNvSpPr/>
            <p:nvPr/>
          </p:nvSpPr>
          <p:spPr>
            <a:xfrm>
              <a:off x="0" y="0"/>
              <a:ext cx="6858000" cy="25897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AD7FD7E-D9B3-A216-7974-37FEF4D216F7}"/>
                </a:ext>
              </a:extLst>
            </p:cNvPr>
            <p:cNvSpPr txBox="1"/>
            <p:nvPr/>
          </p:nvSpPr>
          <p:spPr>
            <a:xfrm>
              <a:off x="4909444" y="115097"/>
              <a:ext cx="171403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LT" sz="900" b="1">
                  <a:latin typeface="Avenir Light" panose="020B0402020203020204" pitchFamily="34" charset="77"/>
                </a:rPr>
                <a:t>Applied TI stimulation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CEC9C24-422B-0263-E81F-87F81530E3C2}"/>
                </a:ext>
              </a:extLst>
            </p:cNvPr>
            <p:cNvGrpSpPr/>
            <p:nvPr/>
          </p:nvGrpSpPr>
          <p:grpSpPr>
            <a:xfrm>
              <a:off x="4769686" y="469693"/>
              <a:ext cx="1943568" cy="1996099"/>
              <a:chOff x="1945810" y="2645648"/>
              <a:chExt cx="1943568" cy="1996099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C77D6E1B-B119-4239-BD4B-62F72EE68ADD}"/>
                  </a:ext>
                </a:extLst>
              </p:cNvPr>
              <p:cNvGrpSpPr/>
              <p:nvPr/>
            </p:nvGrpSpPr>
            <p:grpSpPr>
              <a:xfrm>
                <a:off x="2819018" y="3061922"/>
                <a:ext cx="1070360" cy="511200"/>
                <a:chOff x="3902911" y="3046195"/>
                <a:chExt cx="1070360" cy="511200"/>
              </a:xfrm>
            </p:grpSpPr>
            <p:pic>
              <p:nvPicPr>
                <p:cNvPr id="16" name="Picture 15">
                  <a:extLst>
                    <a:ext uri="{FF2B5EF4-FFF2-40B4-BE49-F238E27FC236}">
                      <a16:creationId xmlns:a16="http://schemas.microsoft.com/office/drawing/2014/main" id="{50F38781-6793-A916-4490-F3CC489EF5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902911" y="3046195"/>
                  <a:ext cx="513237" cy="511200"/>
                </a:xfrm>
                <a:prstGeom prst="rect">
                  <a:avLst/>
                </a:prstGeom>
              </p:spPr>
            </p:pic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07E2F6F-F5EE-EAD1-827D-AEC246A9F954}"/>
                    </a:ext>
                  </a:extLst>
                </p:cNvPr>
                <p:cNvSpPr txBox="1"/>
                <p:nvPr/>
              </p:nvSpPr>
              <p:spPr>
                <a:xfrm>
                  <a:off x="4354218" y="3046195"/>
                  <a:ext cx="619053" cy="5112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LT" sz="900">
                      <a:latin typeface="Avenir Light" panose="020B0402020203020204" pitchFamily="34" charset="77"/>
                    </a:rPr>
                    <a:t>1000 Hz</a:t>
                  </a:r>
                </a:p>
                <a:p>
                  <a:pPr algn="ctr"/>
                  <a:r>
                    <a:rPr lang="en-LT" sz="900">
                      <a:latin typeface="Avenir Light" panose="020B0402020203020204" pitchFamily="34" charset="77"/>
                    </a:rPr>
                    <a:t>+</a:t>
                  </a:r>
                </a:p>
                <a:p>
                  <a:pPr algn="ctr"/>
                  <a:r>
                    <a:rPr lang="en-LT" sz="900">
                      <a:latin typeface="Avenir Light" panose="020B0402020203020204" pitchFamily="34" charset="77"/>
                    </a:rPr>
                    <a:t>1005 Hz</a:t>
                  </a: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DD591C2A-33CB-4003-230C-F5EBE2DD760A}"/>
                  </a:ext>
                </a:extLst>
              </p:cNvPr>
              <p:cNvGrpSpPr/>
              <p:nvPr/>
            </p:nvGrpSpPr>
            <p:grpSpPr>
              <a:xfrm>
                <a:off x="2819018" y="3596235"/>
                <a:ext cx="1070360" cy="511200"/>
                <a:chOff x="3902911" y="3586858"/>
                <a:chExt cx="1070360" cy="511200"/>
              </a:xfrm>
            </p:grpSpPr>
            <p:pic>
              <p:nvPicPr>
                <p:cNvPr id="14" name="Picture 13">
                  <a:extLst>
                    <a:ext uri="{FF2B5EF4-FFF2-40B4-BE49-F238E27FC236}">
                      <a16:creationId xmlns:a16="http://schemas.microsoft.com/office/drawing/2014/main" id="{C069E6E3-8A7A-D07D-90BD-BC6A31C5C2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902911" y="3586858"/>
                  <a:ext cx="513237" cy="511200"/>
                </a:xfrm>
                <a:prstGeom prst="rect">
                  <a:avLst/>
                </a:prstGeom>
              </p:spPr>
            </p:pic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D0CB508-4F01-D7AF-45CD-1811AE39F891}"/>
                    </a:ext>
                  </a:extLst>
                </p:cNvPr>
                <p:cNvSpPr txBox="1"/>
                <p:nvPr/>
              </p:nvSpPr>
              <p:spPr>
                <a:xfrm>
                  <a:off x="4354218" y="3586858"/>
                  <a:ext cx="619053" cy="5112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LT" sz="900">
                      <a:latin typeface="Avenir Light" panose="020B0402020203020204" pitchFamily="34" charset="77"/>
                    </a:rPr>
                    <a:t>1000 Hz</a:t>
                  </a:r>
                </a:p>
                <a:p>
                  <a:pPr algn="ctr"/>
                  <a:r>
                    <a:rPr lang="en-LT" sz="900">
                      <a:latin typeface="Avenir Light" panose="020B0402020203020204" pitchFamily="34" charset="77"/>
                    </a:rPr>
                    <a:t>+</a:t>
                  </a:r>
                </a:p>
                <a:p>
                  <a:pPr algn="ctr"/>
                  <a:r>
                    <a:rPr lang="en-LT" sz="900">
                      <a:latin typeface="Avenir Light" panose="020B0402020203020204" pitchFamily="34" charset="77"/>
                    </a:rPr>
                    <a:t>1130 Hz</a:t>
                  </a:r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21F8EF75-5C36-AD5B-AFCD-4F63822AC5D3}"/>
                  </a:ext>
                </a:extLst>
              </p:cNvPr>
              <p:cNvGrpSpPr/>
              <p:nvPr/>
            </p:nvGrpSpPr>
            <p:grpSpPr>
              <a:xfrm>
                <a:off x="2819018" y="4130547"/>
                <a:ext cx="1070360" cy="511200"/>
                <a:chOff x="3902911" y="4127520"/>
                <a:chExt cx="1070360" cy="511200"/>
              </a:xfrm>
            </p:grpSpPr>
            <p:pic>
              <p:nvPicPr>
                <p:cNvPr id="12" name="Picture 11">
                  <a:extLst>
                    <a:ext uri="{FF2B5EF4-FFF2-40B4-BE49-F238E27FC236}">
                      <a16:creationId xmlns:a16="http://schemas.microsoft.com/office/drawing/2014/main" id="{0AA09C98-2527-35D4-2573-2A2FDA234D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902911" y="4127520"/>
                  <a:ext cx="513237" cy="511200"/>
                </a:xfrm>
                <a:prstGeom prst="rect">
                  <a:avLst/>
                </a:prstGeom>
              </p:spPr>
            </p:pic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93F0A45-91FD-D130-FDEC-27E7E5D11735}"/>
                    </a:ext>
                  </a:extLst>
                </p:cNvPr>
                <p:cNvSpPr txBox="1"/>
                <p:nvPr/>
              </p:nvSpPr>
              <p:spPr>
                <a:xfrm>
                  <a:off x="4354218" y="4127520"/>
                  <a:ext cx="619053" cy="5112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LT" sz="900">
                      <a:latin typeface="Avenir Light" panose="020B0402020203020204" pitchFamily="34" charset="77"/>
                    </a:rPr>
                    <a:t>1000 Hz</a:t>
                  </a:r>
                </a:p>
                <a:p>
                  <a:pPr algn="ctr"/>
                  <a:r>
                    <a:rPr lang="en-LT" sz="900">
                      <a:latin typeface="Avenir Light" panose="020B0402020203020204" pitchFamily="34" charset="77"/>
                    </a:rPr>
                    <a:t>+</a:t>
                  </a:r>
                </a:p>
                <a:p>
                  <a:pPr algn="ctr"/>
                  <a:r>
                    <a:rPr lang="en-LT" sz="900">
                      <a:latin typeface="Avenir Light" panose="020B0402020203020204" pitchFamily="34" charset="77"/>
                    </a:rPr>
                    <a:t>1000 Hz</a:t>
                  </a:r>
                </a:p>
              </p:txBody>
            </p:sp>
          </p:grpSp>
          <p:pic>
            <p:nvPicPr>
              <p:cNvPr id="11" name="Picture 10" descr="A group of colorful text&#10;&#10;AI-generated content may be incorrect.">
                <a:extLst>
                  <a:ext uri="{FF2B5EF4-FFF2-40B4-BE49-F238E27FC236}">
                    <a16:creationId xmlns:a16="http://schemas.microsoft.com/office/drawing/2014/main" id="{F443F140-3AFC-73A1-EA44-20502CC7ED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36953" t="15808" r="39362" b="16636"/>
              <a:stretch>
                <a:fillRect/>
              </a:stretch>
            </p:blipFill>
            <p:spPr>
              <a:xfrm>
                <a:off x="1945810" y="2645648"/>
                <a:ext cx="866630" cy="1865610"/>
              </a:xfrm>
              <a:prstGeom prst="rect">
                <a:avLst/>
              </a:prstGeom>
            </p:spPr>
          </p:pic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226AA3C-2CDC-B3D4-C60A-59FE1B4520CE}"/>
                </a:ext>
              </a:extLst>
            </p:cNvPr>
            <p:cNvGrpSpPr/>
            <p:nvPr/>
          </p:nvGrpSpPr>
          <p:grpSpPr>
            <a:xfrm>
              <a:off x="39449" y="60243"/>
              <a:ext cx="1182235" cy="2031783"/>
              <a:chOff x="2950227" y="4531676"/>
              <a:chExt cx="1711301" cy="2941032"/>
            </a:xfrm>
          </p:grpSpPr>
          <p:pic>
            <p:nvPicPr>
              <p:cNvPr id="24" name="Picture 23" descr="A computer graphics of a brain&#10;&#10;Description automatically generated with medium confidence">
                <a:extLst>
                  <a:ext uri="{FF2B5EF4-FFF2-40B4-BE49-F238E27FC236}">
                    <a16:creationId xmlns:a16="http://schemas.microsoft.com/office/drawing/2014/main" id="{9F60579C-D374-8747-5104-5DD0D0A023F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/>
              <a:srcRect l="34158" t="38584" r="35384" b="29911"/>
              <a:stretch>
                <a:fillRect/>
              </a:stretch>
            </p:blipFill>
            <p:spPr>
              <a:xfrm rot="16200000">
                <a:off x="2335366" y="5146546"/>
                <a:ext cx="2941031" cy="1711293"/>
              </a:xfrm>
              <a:prstGeom prst="rect">
                <a:avLst/>
              </a:prstGeom>
              <a:effectLst>
                <a:softEdge rad="0"/>
              </a:effectLst>
            </p:spPr>
          </p:pic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D8B6AC5-13F5-47D9-254D-ED86CB92EF22}"/>
                  </a:ext>
                </a:extLst>
              </p:cNvPr>
              <p:cNvSpPr/>
              <p:nvPr/>
            </p:nvSpPr>
            <p:spPr>
              <a:xfrm>
                <a:off x="2950232" y="4953794"/>
                <a:ext cx="1711295" cy="2518914"/>
              </a:xfrm>
              <a:prstGeom prst="rect">
                <a:avLst/>
              </a:prstGeom>
              <a:gradFill flip="none" rotWithShape="1">
                <a:gsLst>
                  <a:gs pos="57000">
                    <a:schemeClr val="bg1">
                      <a:alpha val="0"/>
                    </a:schemeClr>
                  </a:gs>
                  <a:gs pos="93000">
                    <a:schemeClr val="bg1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T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4739EFE-528C-3233-80A9-41F8752FAB19}"/>
                  </a:ext>
                </a:extLst>
              </p:cNvPr>
              <p:cNvSpPr/>
              <p:nvPr/>
            </p:nvSpPr>
            <p:spPr>
              <a:xfrm rot="10800000">
                <a:off x="2950227" y="4531676"/>
                <a:ext cx="1711295" cy="2518914"/>
              </a:xfrm>
              <a:prstGeom prst="rect">
                <a:avLst/>
              </a:prstGeom>
              <a:gradFill flip="none" rotWithShape="1">
                <a:gsLst>
                  <a:gs pos="58000">
                    <a:schemeClr val="bg1">
                      <a:alpha val="0"/>
                    </a:schemeClr>
                  </a:gs>
                  <a:gs pos="93000">
                    <a:schemeClr val="bg1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LT"/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DB15D55-AEF3-1331-C939-909BA9606B78}"/>
                </a:ext>
              </a:extLst>
            </p:cNvPr>
            <p:cNvSpPr txBox="1"/>
            <p:nvPr/>
          </p:nvSpPr>
          <p:spPr>
            <a:xfrm>
              <a:off x="3309681" y="115097"/>
              <a:ext cx="149217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900" b="1">
                  <a:latin typeface="Avenir Light" panose="020B0402020203020204" pitchFamily="34" charset="77"/>
                </a:rPr>
                <a:t>Simulations were performed across multiple synaptic configurations</a:t>
              </a:r>
              <a:endParaRPr lang="en-LT" sz="900" b="1">
                <a:latin typeface="Avenir Light" panose="020B0402020203020204" pitchFamily="34" charset="77"/>
              </a:endParaRPr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20E3B14D-E577-428E-6975-734D38AF0C25}"/>
                </a:ext>
              </a:extLst>
            </p:cNvPr>
            <p:cNvGrpSpPr/>
            <p:nvPr/>
          </p:nvGrpSpPr>
          <p:grpSpPr>
            <a:xfrm>
              <a:off x="3354198" y="807088"/>
              <a:ext cx="1403144" cy="1400287"/>
              <a:chOff x="1933547" y="3253205"/>
              <a:chExt cx="1403144" cy="1400287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7F9F129-A1E1-A614-D20C-90D578C4772E}"/>
                  </a:ext>
                </a:extLst>
              </p:cNvPr>
              <p:cNvSpPr txBox="1"/>
              <p:nvPr/>
            </p:nvSpPr>
            <p:spPr>
              <a:xfrm>
                <a:off x="1933547" y="4284160"/>
                <a:ext cx="14031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LT" sz="900">
                    <a:latin typeface="Avenir Light" panose="020B0402020203020204" pitchFamily="34" charset="77"/>
                  </a:rPr>
                  <a:t>× 20 neurons</a:t>
                </a:r>
              </a:p>
              <a:p>
                <a:pPr algn="ctr"/>
                <a:r>
                  <a:rPr lang="en-LT" sz="900">
                    <a:latin typeface="Avenir Light" panose="020B0402020203020204" pitchFamily="34" charset="77"/>
                  </a:rPr>
                  <a:t>(with 10 synapses each)</a:t>
                </a:r>
              </a:p>
            </p:txBody>
          </p: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002015F8-8932-5BA7-B340-1FA8602ED76B}"/>
                  </a:ext>
                </a:extLst>
              </p:cNvPr>
              <p:cNvGrpSpPr/>
              <p:nvPr/>
            </p:nvGrpSpPr>
            <p:grpSpPr>
              <a:xfrm>
                <a:off x="2176036" y="3253205"/>
                <a:ext cx="918167" cy="1083012"/>
                <a:chOff x="2181715" y="3253205"/>
                <a:chExt cx="918167" cy="1083012"/>
              </a:xfrm>
            </p:grpSpPr>
            <p:pic>
              <p:nvPicPr>
                <p:cNvPr id="43" name="Picture 42" descr="A black background with red dots&#10;&#10;AI-generated content may be incorrect.">
                  <a:extLst>
                    <a:ext uri="{FF2B5EF4-FFF2-40B4-BE49-F238E27FC236}">
                      <a16:creationId xmlns:a16="http://schemas.microsoft.com/office/drawing/2014/main" id="{B9ED79F8-6592-3E71-DBFE-39FAB833DE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rcRect l="23494" t="37097" r="19122" b="37098"/>
                <a:stretch>
                  <a:fillRect/>
                </a:stretch>
              </p:blipFill>
              <p:spPr>
                <a:xfrm rot="5400000">
                  <a:off x="2100129" y="3657911"/>
                  <a:ext cx="1081675" cy="273600"/>
                </a:xfrm>
                <a:prstGeom prst="rect">
                  <a:avLst/>
                </a:prstGeom>
              </p:spPr>
            </p:pic>
            <p:pic>
              <p:nvPicPr>
                <p:cNvPr id="44" name="Picture 43" descr="A purple and red branches with small red dots&#10;&#10;AI-generated content may be incorrect.">
                  <a:extLst>
                    <a:ext uri="{FF2B5EF4-FFF2-40B4-BE49-F238E27FC236}">
                      <a16:creationId xmlns:a16="http://schemas.microsoft.com/office/drawing/2014/main" id="{EDA0269A-732E-0C5D-078B-683C412429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rcRect l="23494" t="38420" r="19122" b="35776"/>
                <a:stretch>
                  <a:fillRect/>
                </a:stretch>
              </p:blipFill>
              <p:spPr>
                <a:xfrm rot="5400000">
                  <a:off x="1777178" y="3657742"/>
                  <a:ext cx="1083012" cy="273938"/>
                </a:xfrm>
                <a:prstGeom prst="rect">
                  <a:avLst/>
                </a:prstGeom>
              </p:spPr>
            </p:pic>
            <p:pic>
              <p:nvPicPr>
                <p:cNvPr id="45" name="Picture 44" descr="A purple and black background&#10;&#10;AI-generated content may be incorrect.">
                  <a:extLst>
                    <a:ext uri="{FF2B5EF4-FFF2-40B4-BE49-F238E27FC236}">
                      <a16:creationId xmlns:a16="http://schemas.microsoft.com/office/drawing/2014/main" id="{5711951D-3404-9EE5-7DAB-88642140216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rcRect l="23493" t="37097" r="19122" b="37098"/>
                <a:stretch>
                  <a:fillRect/>
                </a:stretch>
              </p:blipFill>
              <p:spPr>
                <a:xfrm rot="5400000">
                  <a:off x="2422244" y="3657911"/>
                  <a:ext cx="1081675" cy="273600"/>
                </a:xfrm>
                <a:prstGeom prst="rect">
                  <a:avLst/>
                </a:prstGeom>
              </p:spPr>
            </p:pic>
          </p:grpSp>
        </p:grpSp>
        <p:pic>
          <p:nvPicPr>
            <p:cNvPr id="53" name="Picture 52" descr="A screen shot of a computer&#10;&#10;AI-generated content may be incorrect.">
              <a:extLst>
                <a:ext uri="{FF2B5EF4-FFF2-40B4-BE49-F238E27FC236}">
                  <a16:creationId xmlns:a16="http://schemas.microsoft.com/office/drawing/2014/main" id="{AC151B71-B487-E74F-22D9-12CC10CC6F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29635" y="669832"/>
              <a:ext cx="2921000" cy="1511300"/>
            </a:xfrm>
            <a:prstGeom prst="rect">
              <a:avLst/>
            </a:prstGeom>
          </p:spPr>
        </p:pic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300166F7-1D61-9BF1-F8A2-C90E324071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0564" y="885967"/>
              <a:ext cx="430419" cy="78442"/>
            </a:xfrm>
            <a:prstGeom prst="straightConnector1">
              <a:avLst/>
            </a:prstGeom>
            <a:ln w="12700">
              <a:solidFill>
                <a:srgbClr val="78003F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F7957B72-D6D8-FF72-5AEC-500CD92425DA}"/>
                </a:ext>
              </a:extLst>
            </p:cNvPr>
            <p:cNvCxnSpPr>
              <a:cxnSpLocks/>
            </p:cNvCxnSpPr>
            <p:nvPr/>
          </p:nvCxnSpPr>
          <p:spPr>
            <a:xfrm rot="180000" flipH="1">
              <a:off x="694525" y="1058778"/>
              <a:ext cx="366458" cy="0"/>
            </a:xfrm>
            <a:prstGeom prst="straightConnector1">
              <a:avLst/>
            </a:prstGeom>
            <a:ln w="12700">
              <a:solidFill>
                <a:srgbClr val="78003F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D8FF3375-4ADE-7F06-CBB4-76F135D3F5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8198" y="1159853"/>
              <a:ext cx="372534" cy="64195"/>
            </a:xfrm>
            <a:prstGeom prst="straightConnector1">
              <a:avLst/>
            </a:prstGeom>
            <a:ln w="12700">
              <a:solidFill>
                <a:srgbClr val="78003F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EBE6860-2B3E-A85A-FDE2-7D636A2CB6BE}"/>
                </a:ext>
              </a:extLst>
            </p:cNvPr>
            <p:cNvSpPr txBox="1"/>
            <p:nvPr/>
          </p:nvSpPr>
          <p:spPr>
            <a:xfrm>
              <a:off x="1060732" y="115097"/>
              <a:ext cx="2242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900" b="1">
                  <a:latin typeface="Avenir Light" panose="020B0402020203020204" pitchFamily="34" charset="77"/>
                </a:rPr>
                <a:t>Synapses received Poisson-distributed inputs at 5 Hz, 10 Hz, or 30 Hz</a:t>
              </a:r>
              <a:endParaRPr lang="en-LT" sz="900" b="1">
                <a:latin typeface="Avenir Light" panose="020B0402020203020204" pitchFamily="34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68121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1906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48535</TotalTime>
  <Words>129</Words>
  <Application>Microsoft Macintosh PowerPoint</Application>
  <PresentationFormat>Custom</PresentationFormat>
  <Paragraphs>45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Avenir Light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Ieva Kerševičiūtė</dc:creator>
  <cp:lastModifiedBy>Ieva Kerševičiūtė</cp:lastModifiedBy>
  <cp:revision>44</cp:revision>
  <dcterms:created xsi:type="dcterms:W3CDTF">2025-05-07T15:04:20Z</dcterms:created>
  <dcterms:modified xsi:type="dcterms:W3CDTF">2025-07-20T12:22:38Z</dcterms:modified>
</cp:coreProperties>
</file>